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1" r:id="rId4"/>
    <p:sldId id="260" r:id="rId5"/>
    <p:sldId id="261" r:id="rId6"/>
    <p:sldId id="262" r:id="rId7"/>
    <p:sldId id="263" r:id="rId8"/>
    <p:sldId id="282" r:id="rId9"/>
    <p:sldId id="283" r:id="rId10"/>
    <p:sldId id="264" r:id="rId11"/>
    <p:sldId id="265" r:id="rId12"/>
    <p:sldId id="269" r:id="rId13"/>
    <p:sldId id="270" r:id="rId14"/>
    <p:sldId id="271" r:id="rId15"/>
    <p:sldId id="266" r:id="rId16"/>
    <p:sldId id="272" r:id="rId17"/>
    <p:sldId id="267" r:id="rId18"/>
    <p:sldId id="280" r:id="rId19"/>
    <p:sldId id="273" r:id="rId20"/>
    <p:sldId id="278" r:id="rId21"/>
    <p:sldId id="277" r:id="rId22"/>
    <p:sldId id="276" r:id="rId23"/>
    <p:sldId id="275" r:id="rId24"/>
    <p:sldId id="279" r:id="rId25"/>
    <p:sldId id="268" r:id="rId2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Style moyen 1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64646-E80E-0FE5-5090-F1C9B3F8B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34DCDD9-C3EA-12DC-2EB3-79BF2ABF0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89BB4E-AE15-7756-8DB3-643A16CE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C7291-765A-471E-8A6E-63E03D2BBE4A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1BE4B0-26AB-14D3-CD40-61610204D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2A7C4A-2B5B-8866-56EB-40F280171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98C7-22A2-4CCA-8372-67B100989A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2021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C994E3-FCA9-7290-0298-D2CCFC36D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E7FA91-0FA8-170E-6E62-3CFF80883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28272F-3984-AA64-F805-1EED7C903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C7291-765A-471E-8A6E-63E03D2BBE4A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5FCF7D-11E6-21D2-15A0-3CABC2AA7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7E75B6-958D-E7A3-0F07-82884207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98C7-22A2-4CCA-8372-67B100989A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619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8CE1F3-5C3D-7327-2AB4-9B6EF84D0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0C53976-A5C5-E740-5F52-7060FA647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A4EB54-F2C5-7AEC-5BB4-FD2928ED4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C7291-765A-471E-8A6E-63E03D2BBE4A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9ADE39-E0F1-F623-372F-4F0D763C5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D14A81-B753-816D-E3FA-8F687370F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98C7-22A2-4CCA-8372-67B100989A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553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B96839-EFFB-69C2-76BF-03774016D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893225-ABD9-75A6-AF56-755DF49165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5BCED12-41A9-1483-04CD-727D8A4DA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28AD6A2-8E88-EA6F-97A5-57A770DD9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C7291-765A-471E-8A6E-63E03D2BBE4A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269774B-4528-F62E-759B-BED7EECAB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2D8E4F-49E8-68AA-DCB5-FF7C9B77E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98C7-22A2-4CCA-8372-67B100989A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7174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1E37C2-F175-1269-7095-49BA708C5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19A734-98BA-3D69-D7DD-1082ACB8D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E1A6FF4-3D6C-FF77-02FC-5DDAE2AA1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6F6A331-3528-2237-D470-24D977FC1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4B80875-BC4B-1880-5599-B97297EF1A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F072967-3F40-A0B9-C8D1-537835D7E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C7291-765A-471E-8A6E-63E03D2BBE4A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119BEAB-FB45-B2B0-9152-585BB3BF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3011837-6E20-8445-97B9-A37F4C6A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98C7-22A2-4CCA-8372-67B100989A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5763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66F715-1718-D748-EF06-1C0C5CEEC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0F512B3-3564-D6C6-0D70-1C017D12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C7291-765A-471E-8A6E-63E03D2BBE4A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294803A-D86B-9ABF-764D-614F8453B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A4BDD8D-C9BE-3C6A-4E5E-064B761A5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98C7-22A2-4CCA-8372-67B100989A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525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901B848-3420-B798-CC50-20443A5AA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C7291-765A-471E-8A6E-63E03D2BBE4A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94D09A3-70FE-2284-B0CD-98B61EFC7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9A4F65-FB4D-096B-B5C1-06DD4962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98C7-22A2-4CCA-8372-67B100989A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6689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8740E1-3AE8-C2B8-CD29-AD8E92865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6D7B6E-91D8-B6D6-5DE2-05494339A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FBB2680-DCD4-2976-31E3-8D20A0732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2372BA9-2A51-E9FE-5A07-539C8219C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C7291-765A-471E-8A6E-63E03D2BBE4A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ECC2F1E-B5C4-771F-7403-BBFFE8D1C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BEB54C-89CA-DEFF-43AD-D432C68D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98C7-22A2-4CCA-8372-67B100989A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198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4E5DDB-3E4E-C412-52B8-85B600417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DEEFADC-6B8C-307F-35DE-4F20EBE1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D8EBBF1-8F4E-C5CA-FAF4-B383B07C2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AD963C1-FB2A-1391-95B3-0AF9DC08E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C7291-765A-471E-8A6E-63E03D2BBE4A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5B5882-FA55-6B85-8C85-46512305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84D9DF8-3FA4-31D8-DEE2-6155CBE10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98C7-22A2-4CCA-8372-67B100989A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70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24E01F-8A58-DD4F-98FB-3769CA670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5184CF3-FF7E-9B95-45DD-36E3B7648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D4E36A-40D9-5E4A-69C6-1DB3AE327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C7291-765A-471E-8A6E-63E03D2BBE4A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E03E33-A665-59F9-68BB-27C586046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755C46-C68E-7578-1D50-B438D7861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98C7-22A2-4CCA-8372-67B100989A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376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D4D7AE3-E7DE-9C4C-7DFD-C50BDF0065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F0BA30-C11D-DE09-EF04-03296369B5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5B99FA-1E94-EA61-77D3-C69DB4314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C7291-765A-471E-8A6E-63E03D2BBE4A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CEC74F-E5FA-59D4-8A57-8F0636015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C3F412-95C0-07A5-FB48-B763B10E8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98C7-22A2-4CCA-8372-67B100989A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3047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0067ECD-0D2D-086B-D63E-AE978D4B5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685386-7DB2-A7EA-14FD-A6B8FF4DF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919327-0D0B-CAEB-DBED-9BA2261D65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C7291-765A-471E-8A6E-63E03D2BBE4A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442877-DD72-8720-1CF3-2DE2254D9A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4E2AF8-D3CF-4E63-77B1-B3A23EF3F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298C7-22A2-4CCA-8372-67B100989A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7055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8F58EDD9-0685-44E6-9B72-108BB10E1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BDF6DB-C2E3-F7FA-A25C-2E8D8A874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831" y="796413"/>
            <a:ext cx="5109046" cy="4050889"/>
          </a:xfrm>
          <a:noFill/>
        </p:spPr>
        <p:txBody>
          <a:bodyPr>
            <a:normAutofit/>
          </a:bodyPr>
          <a:lstStyle/>
          <a:p>
            <a:pPr algn="l"/>
            <a:r>
              <a:rPr lang="fr-FR" dirty="0"/>
              <a:t>Conception d’une base de données immobilières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9A40DE-EDFE-5B62-3A8B-000B9C8EF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085" y="5807626"/>
            <a:ext cx="6562262" cy="494851"/>
          </a:xfrm>
          <a:noFill/>
        </p:spPr>
        <p:txBody>
          <a:bodyPr>
            <a:normAutofit/>
          </a:bodyPr>
          <a:lstStyle/>
          <a:p>
            <a:pPr algn="l"/>
            <a:r>
              <a:rPr lang="fr-FR" dirty="0"/>
              <a:t>Naima Boutrah 		Février 2026</a:t>
            </a:r>
          </a:p>
        </p:txBody>
      </p:sp>
      <p:pic>
        <p:nvPicPr>
          <p:cNvPr id="65" name="Picture 53" descr="Conception de plancher à damier de couleurs éclatantes">
            <a:extLst>
              <a:ext uri="{FF2B5EF4-FFF2-40B4-BE49-F238E27FC236}">
                <a16:creationId xmlns:a16="http://schemas.microsoft.com/office/drawing/2014/main" id="{676E46A3-6D2E-A6D5-E512-AAAF83ACFF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97" r="27173"/>
          <a:stretch>
            <a:fillRect/>
          </a:stretch>
        </p:blipFill>
        <p:spPr>
          <a:xfrm>
            <a:off x="7552944" y="10"/>
            <a:ext cx="46360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629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55D9D2E-B716-D9B4-2D7E-891DD2711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Contexte du projet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A5BBD1-C3A7-7B4E-844E-59B3E3FCF7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60673" y="2155004"/>
            <a:ext cx="5206532" cy="33215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Création d’une base de données permettant de collecter les transactions immobilières et foncières en France pour analyser le marché et aider les différentes agences régionales à mieux accompagner leurs clients.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872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A19A80-63F3-D75D-C9E1-7179B47C7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" dirty="0"/>
              <a:t>Les données initiales &amp; la conformité RGPD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FBF0FF-C93B-8FCA-957E-B6128432F8AE}"/>
              </a:ext>
            </a:extLst>
          </p:cNvPr>
          <p:cNvSpPr/>
          <p:nvPr/>
        </p:nvSpPr>
        <p:spPr>
          <a:xfrm>
            <a:off x="550606" y="2585199"/>
            <a:ext cx="3706762" cy="3324205"/>
          </a:xfrm>
          <a:prstGeom prst="rect">
            <a:avLst/>
          </a:prstGeom>
          <a:noFill/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29BD12C-8459-1E17-5DD3-59EBA21D0226}"/>
              </a:ext>
            </a:extLst>
          </p:cNvPr>
          <p:cNvSpPr txBox="1"/>
          <p:nvPr/>
        </p:nvSpPr>
        <p:spPr>
          <a:xfrm>
            <a:off x="1152835" y="2046193"/>
            <a:ext cx="21999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002060"/>
                </a:solidFill>
              </a:rPr>
              <a:t>Données brutes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C1CF7DF-6D95-8670-DA02-021BF1172115}"/>
              </a:ext>
            </a:extLst>
          </p:cNvPr>
          <p:cNvSpPr txBox="1"/>
          <p:nvPr/>
        </p:nvSpPr>
        <p:spPr>
          <a:xfrm>
            <a:off x="263013" y="2923970"/>
            <a:ext cx="3824747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sz="1700" b="1" dirty="0"/>
              <a:t>donnees_communes.xlsx </a:t>
            </a:r>
            <a:r>
              <a:rPr lang="fr-FR" sz="1700" dirty="0"/>
              <a:t>: contient les informations sur les communes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sz="1700" b="1" dirty="0"/>
              <a:t>fr-esr-referentiel-géographique.xlsx </a:t>
            </a:r>
            <a:r>
              <a:rPr lang="fr-FR" sz="1700" dirty="0"/>
              <a:t>: contient des informations sur les régions et départements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sz="1700" b="1" dirty="0"/>
              <a:t>Valeurs-foncières.xlsx </a:t>
            </a:r>
            <a:r>
              <a:rPr lang="fr-FR" sz="1700" dirty="0"/>
              <a:t>: contient des informations sur les transactions foncières</a:t>
            </a:r>
          </a:p>
          <a:p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08BED6-2F7E-C555-F079-C1DB7DC11805}"/>
              </a:ext>
            </a:extLst>
          </p:cNvPr>
          <p:cNvSpPr/>
          <p:nvPr/>
        </p:nvSpPr>
        <p:spPr>
          <a:xfrm>
            <a:off x="4677695" y="2585199"/>
            <a:ext cx="3414254" cy="3324205"/>
          </a:xfrm>
          <a:prstGeom prst="rect">
            <a:avLst/>
          </a:prstGeom>
          <a:noFill/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A19FBC-EFF2-81B0-77C8-9501D5767B2B}"/>
              </a:ext>
            </a:extLst>
          </p:cNvPr>
          <p:cNvSpPr/>
          <p:nvPr/>
        </p:nvSpPr>
        <p:spPr>
          <a:xfrm>
            <a:off x="8622890" y="2585198"/>
            <a:ext cx="3018504" cy="3324205"/>
          </a:xfrm>
          <a:prstGeom prst="rect">
            <a:avLst/>
          </a:prstGeom>
          <a:noFill/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0B56B96-E644-DB9B-811B-E2184B53EDC9}"/>
              </a:ext>
            </a:extLst>
          </p:cNvPr>
          <p:cNvSpPr txBox="1"/>
          <p:nvPr/>
        </p:nvSpPr>
        <p:spPr>
          <a:xfrm>
            <a:off x="5049476" y="2067139"/>
            <a:ext cx="2279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002060"/>
                </a:solidFill>
              </a:rPr>
              <a:t>Conformité RGPD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6AAA469-A3DB-C432-8F23-ABC39DAD6E63}"/>
              </a:ext>
            </a:extLst>
          </p:cNvPr>
          <p:cNvSpPr txBox="1"/>
          <p:nvPr/>
        </p:nvSpPr>
        <p:spPr>
          <a:xfrm>
            <a:off x="9054281" y="2067139"/>
            <a:ext cx="1858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La </a:t>
            </a:r>
            <a:r>
              <a:rPr lang="fr-FR" sz="2000" b="1" dirty="0">
                <a:solidFill>
                  <a:srgbClr val="002060"/>
                </a:solidFill>
              </a:rPr>
              <a:t>norme</a:t>
            </a:r>
            <a:r>
              <a:rPr lang="fr-FR" b="1" dirty="0">
                <a:solidFill>
                  <a:srgbClr val="002060"/>
                </a:solidFill>
              </a:rPr>
              <a:t> 3NF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3D8FCD5-268B-464D-D8B0-7A10FC41C9C4}"/>
              </a:ext>
            </a:extLst>
          </p:cNvPr>
          <p:cNvSpPr txBox="1"/>
          <p:nvPr/>
        </p:nvSpPr>
        <p:spPr>
          <a:xfrm>
            <a:off x="4795681" y="2976289"/>
            <a:ext cx="325693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dirty="0"/>
              <a:t>J’ai exclu la colonne </a:t>
            </a:r>
            <a:r>
              <a:rPr lang="fr-FR" sz="1700" b="1" dirty="0"/>
              <a:t>"Nom de l'acquéreur"</a:t>
            </a:r>
            <a:r>
              <a:rPr lang="fr-FR" sz="1700" dirty="0"/>
              <a:t> du fichier Valeurs-foncières.xlsx  car le stockage de </a:t>
            </a:r>
            <a:r>
              <a:rPr lang="fr-FR" sz="1700" b="1" dirty="0"/>
              <a:t>noms de particuliers</a:t>
            </a:r>
            <a:r>
              <a:rPr lang="fr-FR" sz="1700" dirty="0"/>
              <a:t> associés à leur patrimoine immobilier et </a:t>
            </a:r>
            <a:r>
              <a:rPr lang="fr-FR" sz="1700" b="1" dirty="0"/>
              <a:t>leur adresse</a:t>
            </a:r>
            <a:r>
              <a:rPr lang="fr-FR" sz="1700" dirty="0"/>
              <a:t> sans leur consentement est une violation grave du RGPD (</a:t>
            </a:r>
            <a:r>
              <a:rPr lang="fr-FR" sz="1400" dirty="0"/>
              <a:t>Règlement Général sur la Protection des Données )</a:t>
            </a:r>
          </a:p>
          <a:p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38AC0AF-46C7-73CA-4571-57F7C7095EB2}"/>
              </a:ext>
            </a:extLst>
          </p:cNvPr>
          <p:cNvSpPr txBox="1"/>
          <p:nvPr/>
        </p:nvSpPr>
        <p:spPr>
          <a:xfrm>
            <a:off x="8780206" y="2983507"/>
            <a:ext cx="2861188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dirty="0"/>
              <a:t>Un modèle de données basé sur la </a:t>
            </a:r>
            <a:r>
              <a:rPr lang="fr-FR" sz="1700" b="1" dirty="0"/>
              <a:t>3</a:t>
            </a:r>
            <a:r>
              <a:rPr lang="fr-FR" sz="1700" b="1" baseline="30000" dirty="0"/>
              <a:t>ème</a:t>
            </a:r>
            <a:r>
              <a:rPr lang="fr-FR" sz="1700" dirty="0"/>
              <a:t> </a:t>
            </a:r>
            <a:r>
              <a:rPr lang="fr-FR" sz="1700" b="1" dirty="0"/>
              <a:t>Formes Normales (3NF)</a:t>
            </a:r>
            <a:r>
              <a:rPr lang="fr-FR" sz="1700" dirty="0"/>
              <a:t> et d'</a:t>
            </a:r>
            <a:r>
              <a:rPr lang="fr-FR" sz="1700" b="1" dirty="0"/>
              <a:t>intégrité référentielle</a:t>
            </a:r>
            <a:r>
              <a:rPr lang="fr-FR" sz="1700" dirty="0"/>
              <a:t>  =&gt; une colonne ne doit dépendre que de la clé primaire de sa table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9638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F9E788-DB2B-329C-04CB-EE8C90169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046" y="152535"/>
            <a:ext cx="10530349" cy="1070231"/>
          </a:xfrm>
        </p:spPr>
        <p:txBody>
          <a:bodyPr>
            <a:normAutofit/>
          </a:bodyPr>
          <a:lstStyle/>
          <a:p>
            <a:pPr algn="l"/>
            <a:r>
              <a:rPr lang="fr" sz="4600" b="0" dirty="0"/>
              <a:t>L’extrait du dictionnaire des données</a:t>
            </a:r>
            <a:endParaRPr lang="fr-FR" sz="4600" dirty="0"/>
          </a:p>
        </p:txBody>
      </p:sp>
      <p:pic>
        <p:nvPicPr>
          <p:cNvPr id="7" name="Image 6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890A1DA4-F049-4CBA-9F73-5E3ECF49CF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8" t="-1" b="-2016"/>
          <a:stretch>
            <a:fillRect/>
          </a:stretch>
        </p:blipFill>
        <p:spPr>
          <a:xfrm>
            <a:off x="633046" y="1386770"/>
            <a:ext cx="9917722" cy="1621901"/>
          </a:xfrm>
          <a:prstGeom prst="rect">
            <a:avLst/>
          </a:prstGeom>
        </p:spPr>
      </p:pic>
      <p:pic>
        <p:nvPicPr>
          <p:cNvPr id="9" name="Image 8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3894C374-C85D-D167-5490-78AA9B996E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3046" y="3118206"/>
            <a:ext cx="9917723" cy="1546754"/>
          </a:xfrm>
          <a:prstGeom prst="rect">
            <a:avLst/>
          </a:prstGeom>
        </p:spPr>
      </p:pic>
      <p:pic>
        <p:nvPicPr>
          <p:cNvPr id="11" name="Image 10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34E927F-E2EF-F091-4D74-B14E710E1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46" y="4873356"/>
            <a:ext cx="9917723" cy="168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89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E7A269F8-1EF7-4422-2883-4D754EA880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9" t="-363" r="-1722" b="363"/>
          <a:stretch>
            <a:fillRect/>
          </a:stretch>
        </p:blipFill>
        <p:spPr>
          <a:xfrm>
            <a:off x="953732" y="4140909"/>
            <a:ext cx="9998305" cy="2354990"/>
          </a:xfrm>
          <a:prstGeom prst="rect">
            <a:avLst/>
          </a:prstGeom>
          <a:scene3d>
            <a:camera prst="orthographicFront"/>
            <a:lightRig rig="threePt" dir="t"/>
          </a:scene3d>
          <a:sp3d contourW="6350"/>
        </p:spPr>
      </p:pic>
      <p:pic>
        <p:nvPicPr>
          <p:cNvPr id="6" name="Image 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1578900A-AD19-29F5-2229-F9540E476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31" y="362101"/>
            <a:ext cx="9998306" cy="363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49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0D6EE2-A3FD-3D6F-69E0-BC6A5F978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457" y="335782"/>
            <a:ext cx="11403259" cy="932579"/>
          </a:xfrm>
        </p:spPr>
        <p:txBody>
          <a:bodyPr>
            <a:normAutofit/>
          </a:bodyPr>
          <a:lstStyle/>
          <a:p>
            <a:pPr algn="l"/>
            <a:r>
              <a:rPr lang="fr" sz="4600" b="0" dirty="0"/>
              <a:t>Le schéma relationnel normalisé</a:t>
            </a:r>
            <a:endParaRPr lang="fr-FR" sz="4600" dirty="0"/>
          </a:p>
        </p:txBody>
      </p:sp>
      <p:pic>
        <p:nvPicPr>
          <p:cNvPr id="4" name="Image 3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19516AC3-246A-0E96-4640-07F37401D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5729" y="1661653"/>
            <a:ext cx="6199830" cy="458923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896B490-8EBC-C82D-0D53-5B2CA09855A2}"/>
              </a:ext>
            </a:extLst>
          </p:cNvPr>
          <p:cNvSpPr txBox="1"/>
          <p:nvPr/>
        </p:nvSpPr>
        <p:spPr>
          <a:xfrm>
            <a:off x="383457" y="2003574"/>
            <a:ext cx="5142272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rgbClr val="002060"/>
                </a:solidFill>
              </a:rPr>
              <a:t>Les Cardinalités </a:t>
            </a:r>
          </a:p>
          <a:p>
            <a:endParaRPr lang="fr-FR" dirty="0">
              <a:solidFill>
                <a:srgbClr val="002060"/>
              </a:solidFill>
            </a:endParaRPr>
          </a:p>
          <a:p>
            <a:pPr lvl="0"/>
            <a:r>
              <a:rPr lang="fr-FR" b="1" dirty="0">
                <a:solidFill>
                  <a:srgbClr val="0070C0"/>
                </a:solidFill>
              </a:rPr>
              <a:t>region</a:t>
            </a:r>
            <a:r>
              <a:rPr lang="fr-FR" b="1" dirty="0"/>
              <a:t> (1) ---- (N) </a:t>
            </a:r>
            <a:r>
              <a:rPr lang="fr-FR" b="1" dirty="0">
                <a:solidFill>
                  <a:srgbClr val="0070C0"/>
                </a:solidFill>
              </a:rPr>
              <a:t>departement</a:t>
            </a:r>
            <a:r>
              <a:rPr lang="fr-FR" dirty="0"/>
              <a:t> : </a:t>
            </a:r>
            <a:r>
              <a:rPr lang="fr-FR" sz="1600" dirty="0"/>
              <a:t>Une région a plusieurs départements, un département n'est que dans une région.</a:t>
            </a:r>
          </a:p>
          <a:p>
            <a:pPr lvl="0"/>
            <a:r>
              <a:rPr lang="fr-FR" b="1" dirty="0">
                <a:solidFill>
                  <a:srgbClr val="0070C0"/>
                </a:solidFill>
              </a:rPr>
              <a:t>departement</a:t>
            </a:r>
            <a:r>
              <a:rPr lang="fr-FR" b="1" dirty="0"/>
              <a:t> (1) ---- (N) </a:t>
            </a:r>
            <a:r>
              <a:rPr lang="fr-FR" b="1" dirty="0">
                <a:solidFill>
                  <a:srgbClr val="0070C0"/>
                </a:solidFill>
              </a:rPr>
              <a:t>commune</a:t>
            </a:r>
            <a:r>
              <a:rPr lang="fr-FR" dirty="0"/>
              <a:t> </a:t>
            </a:r>
            <a:r>
              <a:rPr lang="fr-FR" sz="1600" dirty="0"/>
              <a:t>: Un département contient plusieurs communes. une commune appartient à un seul département</a:t>
            </a:r>
          </a:p>
          <a:p>
            <a:pPr lvl="0"/>
            <a:r>
              <a:rPr lang="fr-FR" b="1" dirty="0">
                <a:solidFill>
                  <a:srgbClr val="0070C0"/>
                </a:solidFill>
              </a:rPr>
              <a:t>Commune </a:t>
            </a:r>
            <a:r>
              <a:rPr lang="fr-FR" b="1" dirty="0"/>
              <a:t>(1) ---- (N) </a:t>
            </a:r>
            <a:r>
              <a:rPr lang="fr-FR" b="1" dirty="0">
                <a:solidFill>
                  <a:srgbClr val="0070C0"/>
                </a:solidFill>
              </a:rPr>
              <a:t>bien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/>
              <a:t>: </a:t>
            </a:r>
            <a:r>
              <a:rPr lang="fr-FR" sz="1600" dirty="0"/>
              <a:t>Une commune possède plusieurs biens immobiliers. Un bien appartient à une seule commune</a:t>
            </a:r>
          </a:p>
          <a:p>
            <a:pPr lvl="0"/>
            <a:r>
              <a:rPr lang="fr-FR" b="1" dirty="0">
                <a:solidFill>
                  <a:srgbClr val="0070C0"/>
                </a:solidFill>
              </a:rPr>
              <a:t>bien</a:t>
            </a:r>
            <a:r>
              <a:rPr lang="fr-FR" b="1" dirty="0"/>
              <a:t> (1) ---- (N) </a:t>
            </a:r>
            <a:r>
              <a:rPr lang="fr-FR" b="1" dirty="0">
                <a:solidFill>
                  <a:srgbClr val="0070C0"/>
                </a:solidFill>
              </a:rPr>
              <a:t>vente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/>
              <a:t>: </a:t>
            </a:r>
            <a:r>
              <a:rPr lang="fr-FR" sz="1600" dirty="0"/>
              <a:t>Un bien peut avoir été vendu plusieurs fois au fil des années (historique des prix). Mais une vente spécifique ne concerne qu'un seul bien.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865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503EBD-1253-F05E-FF6D-7DD7EA54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148" y="355447"/>
            <a:ext cx="11464413" cy="1571676"/>
          </a:xfrm>
        </p:spPr>
        <p:txBody>
          <a:bodyPr>
            <a:normAutofit/>
          </a:bodyPr>
          <a:lstStyle/>
          <a:p>
            <a:pPr algn="l"/>
            <a:r>
              <a:rPr lang="fr" sz="4600" b="0" dirty="0"/>
              <a:t>La base de données avec les tables créées et les données chargées</a:t>
            </a:r>
            <a:endParaRPr lang="fr-FR" sz="4600" dirty="0"/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939339FF-6CFA-79D4-64AD-3AC03F2F9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89" y="2396043"/>
            <a:ext cx="3413592" cy="2878577"/>
          </a:xfrm>
          <a:prstGeom prst="rect">
            <a:avLst/>
          </a:prstGeom>
          <a:scene3d>
            <a:camera prst="orthographicFront"/>
            <a:lightRig rig="threePt" dir="t"/>
          </a:scene3d>
          <a:sp3d contourW="12700"/>
        </p:spPr>
      </p:pic>
      <p:pic>
        <p:nvPicPr>
          <p:cNvPr id="7" name="Image 6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71F6EF14-A211-D7C8-BDF4-1FD9FD56F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751" y="2386531"/>
            <a:ext cx="7599810" cy="2878577"/>
          </a:xfrm>
          <a:prstGeom prst="rect">
            <a:avLst/>
          </a:prstGeom>
          <a:scene3d>
            <a:camera prst="orthographicFront"/>
            <a:lightRig rig="threePt" dir="t"/>
          </a:scene3d>
          <a:sp3d contourW="12700"/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E4E1C68-288C-D265-0828-40EB7C8C79B8}"/>
              </a:ext>
            </a:extLst>
          </p:cNvPr>
          <p:cNvSpPr txBox="1"/>
          <p:nvPr/>
        </p:nvSpPr>
        <p:spPr>
          <a:xfrm>
            <a:off x="331088" y="5577300"/>
            <a:ext cx="1118248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700" b="1" dirty="0"/>
              <a:t>Choix SGBDR PostgreSQL </a:t>
            </a:r>
            <a:r>
              <a:rPr lang="fr-FR" sz="1700" dirty="0"/>
              <a:t>: Open Source, gestion robuste du SQL, gestion gros volume de données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C9C93A60-BF2A-559D-BD0D-B232E054ED86}"/>
              </a:ext>
            </a:extLst>
          </p:cNvPr>
          <p:cNvSpPr/>
          <p:nvPr/>
        </p:nvSpPr>
        <p:spPr>
          <a:xfrm>
            <a:off x="871383" y="4861983"/>
            <a:ext cx="1626010" cy="353944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926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942A63-482C-7B81-2681-E4992AFBC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Code SQL </a:t>
            </a:r>
          </a:p>
        </p:txBody>
      </p:sp>
      <p:pic>
        <p:nvPicPr>
          <p:cNvPr id="6" name="Image 5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2AD8CA6-47EC-4903-DE0A-E0855AB18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735" y="1838847"/>
            <a:ext cx="5938368" cy="4203631"/>
          </a:xfrm>
          <a:prstGeom prst="rect">
            <a:avLst/>
          </a:prstGeom>
        </p:spPr>
      </p:pic>
      <p:pic>
        <p:nvPicPr>
          <p:cNvPr id="8" name="Image 7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C6B5D4C-436D-AA12-FF13-2B35AA99F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54" y="1838846"/>
            <a:ext cx="5683693" cy="420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170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705DF0-AAB7-A538-9B2E-42E42198D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Code SQL (suite)</a:t>
            </a:r>
          </a:p>
        </p:txBody>
      </p:sp>
      <p:pic>
        <p:nvPicPr>
          <p:cNvPr id="4" name="Image 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3687196A-A318-819D-E4E2-2D9409ADB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18" y="2223250"/>
            <a:ext cx="6116504" cy="3680779"/>
          </a:xfrm>
          <a:prstGeom prst="rect">
            <a:avLst/>
          </a:prstGeom>
        </p:spPr>
      </p:pic>
      <p:pic>
        <p:nvPicPr>
          <p:cNvPr id="6" name="Image 5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94CA5A0-37B7-9000-73BB-A0152E129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871" y="2223250"/>
            <a:ext cx="5022011" cy="368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594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7B8EE5-3445-A2F4-EEE1-960626A0C4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788" y="286622"/>
            <a:ext cx="11395586" cy="1355366"/>
          </a:xfrm>
        </p:spPr>
        <p:txBody>
          <a:bodyPr>
            <a:normAutofit fontScale="90000"/>
          </a:bodyPr>
          <a:lstStyle/>
          <a:p>
            <a:pPr algn="l"/>
            <a:r>
              <a:rPr lang="fr" sz="4600" dirty="0"/>
              <a:t>Les requêtes permettant de démontrer le bon chargement des données</a:t>
            </a:r>
            <a:endParaRPr lang="fr-FR" sz="4600" dirty="0"/>
          </a:p>
        </p:txBody>
      </p:sp>
      <p:pic>
        <p:nvPicPr>
          <p:cNvPr id="4" name="Image 3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929B7229-C13A-CA9C-0AD4-B247A8EE5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8" y="2484133"/>
            <a:ext cx="4868865" cy="3405389"/>
          </a:xfrm>
          <a:prstGeom prst="rect">
            <a:avLst/>
          </a:prstGeom>
          <a:scene3d>
            <a:camera prst="orthographicFront"/>
            <a:lightRig rig="threePt" dir="t"/>
          </a:scene3d>
          <a:sp3d contourW="12700"/>
        </p:spPr>
      </p:pic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126477C8-1BF0-4B2D-3E78-1C577CBD7C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928351"/>
              </p:ext>
            </p:extLst>
          </p:nvPr>
        </p:nvGraphicFramePr>
        <p:xfrm>
          <a:off x="5743936" y="2484134"/>
          <a:ext cx="5840361" cy="34053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42822">
                  <a:extLst>
                    <a:ext uri="{9D8B030D-6E8A-4147-A177-3AD203B41FA5}">
                      <a16:colId xmlns:a16="http://schemas.microsoft.com/office/drawing/2014/main" val="3683959345"/>
                    </a:ext>
                  </a:extLst>
                </a:gridCol>
                <a:gridCol w="1050996">
                  <a:extLst>
                    <a:ext uri="{9D8B030D-6E8A-4147-A177-3AD203B41FA5}">
                      <a16:colId xmlns:a16="http://schemas.microsoft.com/office/drawing/2014/main" val="2769375739"/>
                    </a:ext>
                  </a:extLst>
                </a:gridCol>
                <a:gridCol w="1631878">
                  <a:extLst>
                    <a:ext uri="{9D8B030D-6E8A-4147-A177-3AD203B41FA5}">
                      <a16:colId xmlns:a16="http://schemas.microsoft.com/office/drawing/2014/main" val="1913853251"/>
                    </a:ext>
                  </a:extLst>
                </a:gridCol>
                <a:gridCol w="1149158">
                  <a:extLst>
                    <a:ext uri="{9D8B030D-6E8A-4147-A177-3AD203B41FA5}">
                      <a16:colId xmlns:a16="http://schemas.microsoft.com/office/drawing/2014/main" val="811935865"/>
                    </a:ext>
                  </a:extLst>
                </a:gridCol>
                <a:gridCol w="765507">
                  <a:extLst>
                    <a:ext uri="{9D8B030D-6E8A-4147-A177-3AD203B41FA5}">
                      <a16:colId xmlns:a16="http://schemas.microsoft.com/office/drawing/2014/main" val="1309218122"/>
                    </a:ext>
                  </a:extLst>
                </a:gridCol>
              </a:tblGrid>
              <a:tr h="606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Table SQL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Nbr lignes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Fichiers.csv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Nbr lignes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Ecart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717727931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 dirty="0">
                          <a:effectLst/>
                        </a:rPr>
                        <a:t>region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19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ref.géo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19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937545050"/>
                  </a:ext>
                </a:extLst>
              </a:tr>
              <a:tr h="6061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 dirty="0">
                          <a:effectLst/>
                        </a:rPr>
                        <a:t>departement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 dirty="0">
                          <a:effectLst/>
                        </a:rPr>
                        <a:t>109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 dirty="0">
                          <a:effectLst/>
                        </a:rPr>
                        <a:t>ref.géo  et communes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109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598586983"/>
                  </a:ext>
                </a:extLst>
              </a:tr>
              <a:tr h="6061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 dirty="0">
                          <a:effectLst/>
                        </a:rPr>
                        <a:t>commune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34991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communes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34991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918838752"/>
                  </a:ext>
                </a:extLst>
              </a:tr>
              <a:tr h="6061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bien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34169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 dirty="0">
                          <a:effectLst/>
                        </a:rPr>
                        <a:t>valeurs foncières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 dirty="0">
                          <a:effectLst/>
                        </a:rPr>
                        <a:t>34169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618730127"/>
                  </a:ext>
                </a:extLst>
              </a:tr>
              <a:tr h="6061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vente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34169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valeurs foncières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34169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 dirty="0">
                          <a:effectLst/>
                        </a:rPr>
                        <a:t>0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583659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881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126726-0E22-F8DF-38CB-57B471DCF2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" b="0" dirty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9130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88F059-F8AE-299E-310A-ADB9020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297" y="530941"/>
            <a:ext cx="11031793" cy="1288257"/>
          </a:xfrm>
        </p:spPr>
        <p:txBody>
          <a:bodyPr>
            <a:normAutofit/>
          </a:bodyPr>
          <a:lstStyle/>
          <a:p>
            <a:pPr algn="l"/>
            <a:r>
              <a:rPr lang="fr-FR" sz="3900" b="1" dirty="0">
                <a:solidFill>
                  <a:srgbClr val="0070C0"/>
                </a:solidFill>
              </a:rPr>
              <a:t>R1</a:t>
            </a:r>
            <a:r>
              <a:rPr lang="fr-FR" sz="3900" b="1" dirty="0"/>
              <a:t>- Nombre total d'appartements vendus</a:t>
            </a:r>
            <a:r>
              <a:rPr lang="fr-FR" sz="3900" dirty="0"/>
              <a:t> </a:t>
            </a:r>
            <a:r>
              <a:rPr lang="fr-FR" sz="3900" b="1" dirty="0"/>
              <a:t>au 1er semestre 2020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AA37E53-D6E1-2B1A-D456-D14CB5146976}"/>
              </a:ext>
            </a:extLst>
          </p:cNvPr>
          <p:cNvSpPr txBox="1"/>
          <p:nvPr/>
        </p:nvSpPr>
        <p:spPr>
          <a:xfrm>
            <a:off x="481782" y="2408128"/>
            <a:ext cx="6086168" cy="230832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-- 1)Nombre total d'appartements vendus au 1er semestre 2020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en-US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SELECT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count(*)  </a:t>
            </a:r>
            <a:r>
              <a:rPr lang="en-US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AS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"Nb appart vendus"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FROM 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vente</a:t>
            </a:r>
          </a:p>
          <a:p>
            <a:pPr>
              <a:buNone/>
            </a:pP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fr-FR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JOIN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bien </a:t>
            </a:r>
            <a:r>
              <a:rPr lang="fr-FR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ON 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bien.id_bien = vente.id_bien</a:t>
            </a:r>
          </a:p>
          <a:p>
            <a:pPr>
              <a:buNone/>
            </a:pP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en-US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WHERE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bien.type_local = 'Appartement'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AND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date_mutation BETWEEN '2020-01-01' AND '2020-06-30';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C41B7702-FB89-88C5-5782-C70F1C72B820}"/>
              </a:ext>
            </a:extLst>
          </p:cNvPr>
          <p:cNvSpPr/>
          <p:nvPr/>
        </p:nvSpPr>
        <p:spPr>
          <a:xfrm>
            <a:off x="6744929" y="3569110"/>
            <a:ext cx="1396181" cy="383458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B45B30D5-287F-16B9-AA6B-92C2F0A87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131723"/>
              </p:ext>
            </p:extLst>
          </p:nvPr>
        </p:nvGraphicFramePr>
        <p:xfrm>
          <a:off x="8721213" y="2924981"/>
          <a:ext cx="2487561" cy="12882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87561">
                  <a:extLst>
                    <a:ext uri="{9D8B030D-6E8A-4147-A177-3AD203B41FA5}">
                      <a16:colId xmlns:a16="http://schemas.microsoft.com/office/drawing/2014/main" val="1101549450"/>
                    </a:ext>
                  </a:extLst>
                </a:gridCol>
              </a:tblGrid>
              <a:tr h="6556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effectLst/>
                        </a:rPr>
                        <a:t>Nb appart vendus S1-2020</a:t>
                      </a:r>
                      <a:endParaRPr lang="fr-FR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4003681808"/>
                  </a:ext>
                </a:extLst>
              </a:tr>
              <a:tr h="6326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effectLst/>
                        </a:rPr>
                        <a:t>31378</a:t>
                      </a:r>
                      <a:endParaRPr lang="fr-FR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498640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7053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F8A58F-5687-094B-8BB4-AC1E8C7E5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296" y="412954"/>
            <a:ext cx="11307097" cy="1150221"/>
          </a:xfrm>
        </p:spPr>
        <p:txBody>
          <a:bodyPr>
            <a:normAutofit fontScale="90000"/>
          </a:bodyPr>
          <a:lstStyle/>
          <a:p>
            <a:pPr algn="l"/>
            <a:r>
              <a:rPr lang="fr-FR" sz="3900" b="1" dirty="0">
                <a:solidFill>
                  <a:srgbClr val="0070C0"/>
                </a:solidFill>
              </a:rPr>
              <a:t>R2</a:t>
            </a:r>
            <a:r>
              <a:rPr lang="fr-FR" sz="3900" b="1" dirty="0"/>
              <a:t>- Le nombre de ventes d'appartement par région pour le 1er semestre 2020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95C5932-A567-C058-AFF9-8B2B5904D369}"/>
              </a:ext>
            </a:extLst>
          </p:cNvPr>
          <p:cNvSpPr txBox="1"/>
          <p:nvPr/>
        </p:nvSpPr>
        <p:spPr>
          <a:xfrm>
            <a:off x="334296" y="1976353"/>
            <a:ext cx="6086170" cy="4247317"/>
          </a:xfrm>
          <a:prstGeom prst="rect">
            <a:avLst/>
          </a:prstGeom>
          <a:noFill/>
          <a:ln w="12700">
            <a:solidFill>
              <a:schemeClr val="accent1">
                <a:shade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-- 2)Le nombre de ventes d'appartement </a:t>
            </a:r>
            <a:r>
              <a:rPr lang="fr-FR" sz="1400" b="1" kern="100" dirty="0">
                <a:solidFill>
                  <a:srgbClr val="7030A0"/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du</a:t>
            </a:r>
            <a:r>
              <a:rPr lang="fr-FR" sz="14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1er semestre 2020 par région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fr-FR" sz="14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SELECT</a:t>
            </a:r>
          </a:p>
          <a:p>
            <a:pPr>
              <a:buNone/>
            </a:pPr>
            <a:r>
              <a:rPr lang="fr-FR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region.reg_nom </a:t>
            </a:r>
            <a:r>
              <a:rPr lang="fr-FR" sz="1400" b="1" kern="100" dirty="0">
                <a:solidFill>
                  <a:schemeClr val="accent2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AS 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"Région",</a:t>
            </a:r>
          </a:p>
          <a:p>
            <a:pPr>
              <a:buNone/>
            </a:pPr>
            <a:r>
              <a:rPr lang="fr-FR" sz="14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</a:t>
            </a:r>
            <a:r>
              <a:rPr lang="fr-FR" sz="14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count(*) </a:t>
            </a:r>
            <a:r>
              <a:rPr lang="fr-FR" sz="1400" b="1" kern="1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AS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fr-FR" sz="1400" kern="100" dirty="0">
                <a:latin typeface="Aptos" panose="020B0004020202020204" pitchFamily="34" charset="0"/>
                <a:cs typeface="Arial" panose="020B0604020202020204" pitchFamily="34" charset="0"/>
              </a:rPr>
              <a:t>"Nombre de ventes" </a:t>
            </a:r>
          </a:p>
          <a:p>
            <a:pPr>
              <a:buNone/>
            </a:pPr>
            <a:endParaRPr lang="fr-FR" sz="1400" b="1" kern="100" dirty="0">
              <a:solidFill>
                <a:srgbClr val="00B050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4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FROM</a:t>
            </a:r>
            <a:r>
              <a:rPr lang="fr-FR" sz="14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vente </a:t>
            </a:r>
          </a:p>
          <a:p>
            <a:pPr>
              <a:buNone/>
            </a:pP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fr-FR" sz="14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JOIN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bien </a:t>
            </a:r>
            <a:r>
              <a:rPr lang="fr-FR" sz="1400" b="1" kern="1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ON</a:t>
            </a:r>
            <a:r>
              <a:rPr lang="fr-FR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bien.id_bien = vente.id_bien</a:t>
            </a:r>
          </a:p>
          <a:p>
            <a:pPr>
              <a:buNone/>
            </a:pPr>
            <a:r>
              <a:rPr lang="fr-FR" sz="14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JOIN</a:t>
            </a:r>
            <a:r>
              <a:rPr lang="fr-FR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commune </a:t>
            </a:r>
            <a:r>
              <a:rPr lang="fr-FR" sz="1400" b="1" kern="1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ON 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commune.code_dep_com = bien.code_dep_com</a:t>
            </a:r>
          </a:p>
          <a:p>
            <a:pPr>
              <a:buNone/>
            </a:pPr>
            <a:r>
              <a:rPr lang="fr-FR" sz="14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JOIN 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departement </a:t>
            </a:r>
            <a:r>
              <a:rPr lang="fr-FR" sz="1400" b="1" kern="1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ON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departement.dep_code = commune.dep_code</a:t>
            </a:r>
          </a:p>
          <a:p>
            <a:pPr>
              <a:buNone/>
            </a:pPr>
            <a:r>
              <a:rPr lang="en-US" sz="14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JOIN</a:t>
            </a:r>
            <a:r>
              <a:rPr lang="en-US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region </a:t>
            </a:r>
            <a:r>
              <a:rPr lang="en-US" sz="1400" b="1" kern="1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ON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region.reg_code = departement.reg_code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4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WHERE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bien.type_local = '</a:t>
            </a:r>
            <a:r>
              <a:rPr lang="en-US" sz="14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Appartement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</a:t>
            </a:r>
            <a:endParaRPr lang="fr-FR" sz="1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4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AND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date_mutation</a:t>
            </a:r>
            <a:r>
              <a:rPr lang="en-US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BETWEEN</a:t>
            </a:r>
            <a:r>
              <a:rPr lang="en-US" sz="14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'2020-01-01' AND '2020-06-30'</a:t>
            </a:r>
            <a:endParaRPr lang="fr-FR" sz="1400" b="1" kern="100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4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GROUP BY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region.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reg_nom</a:t>
            </a:r>
            <a:endParaRPr lang="fr-FR" sz="1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14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ORDER BY  </a:t>
            </a:r>
            <a:r>
              <a:rPr lang="fr-FR" sz="1400" b="1" kern="100" dirty="0">
                <a:latin typeface="Aptos" panose="020B0004020202020204" pitchFamily="34" charset="0"/>
                <a:cs typeface="Arial" panose="020B0604020202020204" pitchFamily="34" charset="0"/>
              </a:rPr>
              <a:t>"Nombre de ventes" </a:t>
            </a:r>
          </a:p>
          <a:p>
            <a:pPr>
              <a:buNone/>
            </a:pPr>
            <a:r>
              <a:rPr lang="en-US" sz="14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 DESC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;       </a:t>
            </a:r>
            <a:r>
              <a:rPr lang="en-US" sz="11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-- Tri décroissant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407D662D-76CB-662C-E339-1958C4DE6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998244"/>
              </p:ext>
            </p:extLst>
          </p:nvPr>
        </p:nvGraphicFramePr>
        <p:xfrm>
          <a:off x="6950757" y="1834132"/>
          <a:ext cx="4355691" cy="45317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42060">
                  <a:extLst>
                    <a:ext uri="{9D8B030D-6E8A-4147-A177-3AD203B41FA5}">
                      <a16:colId xmlns:a16="http://schemas.microsoft.com/office/drawing/2014/main" val="53272592"/>
                    </a:ext>
                  </a:extLst>
                </a:gridCol>
                <a:gridCol w="1913631">
                  <a:extLst>
                    <a:ext uri="{9D8B030D-6E8A-4147-A177-3AD203B41FA5}">
                      <a16:colId xmlns:a16="http://schemas.microsoft.com/office/drawing/2014/main" val="3711204828"/>
                    </a:ext>
                  </a:extLst>
                </a:gridCol>
              </a:tblGrid>
              <a:tr h="2557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Région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Nombre de ventes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289638534"/>
                  </a:ext>
                </a:extLst>
              </a:tr>
              <a:tr h="2367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Ile-de-France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13995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383975603"/>
                  </a:ext>
                </a:extLst>
              </a:tr>
              <a:tr h="2367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>
                          <a:effectLst/>
                        </a:rPr>
                        <a:t>Provence-Alpes-Côte d'Azur</a:t>
                      </a:r>
                      <a:endParaRPr lang="fr-FR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3649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544589047"/>
                  </a:ext>
                </a:extLst>
              </a:tr>
              <a:tr h="2367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>
                          <a:effectLst/>
                        </a:rPr>
                        <a:t>Auvergne-Rhône-Alpes</a:t>
                      </a:r>
                      <a:endParaRPr lang="fr-FR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3253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600455622"/>
                  </a:ext>
                </a:extLst>
              </a:tr>
              <a:tr h="2367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>
                          <a:effectLst/>
                        </a:rPr>
                        <a:t>Nouvelle-Aquitaine</a:t>
                      </a:r>
                      <a:endParaRPr lang="fr-FR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1932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380106328"/>
                  </a:ext>
                </a:extLst>
              </a:tr>
              <a:tr h="2367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>
                          <a:effectLst/>
                        </a:rPr>
                        <a:t>Occitanie</a:t>
                      </a:r>
                      <a:endParaRPr lang="fr-FR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1640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668188863"/>
                  </a:ext>
                </a:extLst>
              </a:tr>
              <a:tr h="2367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>
                          <a:effectLst/>
                        </a:rPr>
                        <a:t>Pays de la Loire</a:t>
                      </a:r>
                      <a:endParaRPr lang="fr-FR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1357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4019849777"/>
                  </a:ext>
                </a:extLst>
              </a:tr>
              <a:tr h="2367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Hauts-de-France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1254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79104013"/>
                  </a:ext>
                </a:extLst>
              </a:tr>
              <a:tr h="2367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>
                          <a:effectLst/>
                        </a:rPr>
                        <a:t>Grand Est</a:t>
                      </a:r>
                      <a:endParaRPr lang="fr-FR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984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916880800"/>
                  </a:ext>
                </a:extLst>
              </a:tr>
              <a:tr h="2367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>
                          <a:effectLst/>
                        </a:rPr>
                        <a:t>Bretagne</a:t>
                      </a:r>
                      <a:endParaRPr lang="fr-FR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983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535088300"/>
                  </a:ext>
                </a:extLst>
              </a:tr>
              <a:tr h="2367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Normandie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862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932261346"/>
                  </a:ext>
                </a:extLst>
              </a:tr>
              <a:tr h="2367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>
                          <a:effectLst/>
                        </a:rPr>
                        <a:t>Centre-Val de Loire</a:t>
                      </a:r>
                      <a:endParaRPr lang="fr-FR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696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443788116"/>
                  </a:ext>
                </a:extLst>
              </a:tr>
              <a:tr h="2367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>
                          <a:effectLst/>
                        </a:rPr>
                        <a:t>Bourgogne-Franche-Comté</a:t>
                      </a:r>
                      <a:endParaRPr lang="fr-FR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376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879645190"/>
                  </a:ext>
                </a:extLst>
              </a:tr>
              <a:tr h="2367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>
                          <a:effectLst/>
                        </a:rPr>
                        <a:t>Corse</a:t>
                      </a:r>
                      <a:endParaRPr lang="fr-FR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223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64395300"/>
                  </a:ext>
                </a:extLst>
              </a:tr>
              <a:tr h="2367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>
                          <a:effectLst/>
                        </a:rPr>
                        <a:t>Martinique</a:t>
                      </a:r>
                      <a:endParaRPr lang="fr-FR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94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286163551"/>
                  </a:ext>
                </a:extLst>
              </a:tr>
              <a:tr h="2367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>
                          <a:effectLst/>
                        </a:rPr>
                        <a:t>La Réunion</a:t>
                      </a:r>
                      <a:endParaRPr lang="fr-FR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44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032305982"/>
                  </a:ext>
                </a:extLst>
              </a:tr>
              <a:tr h="2367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>
                          <a:effectLst/>
                        </a:rPr>
                        <a:t>Guyane</a:t>
                      </a:r>
                      <a:endParaRPr lang="fr-FR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34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626831987"/>
                  </a:ext>
                </a:extLst>
              </a:tr>
              <a:tr h="2367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Guadeloupe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300" kern="0" dirty="0">
                          <a:effectLst/>
                        </a:rPr>
                        <a:t>2</a:t>
                      </a:r>
                      <a:endParaRPr lang="fr-FR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194600756"/>
                  </a:ext>
                </a:extLst>
              </a:tr>
              <a:tr h="2411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31378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33179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055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47D6C-0C02-1D4A-012A-1D7BFB5F9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21BCA6-7B06-9E96-118E-56D3BE1C31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74" y="599768"/>
            <a:ext cx="11130116" cy="1110892"/>
          </a:xfrm>
        </p:spPr>
        <p:txBody>
          <a:bodyPr>
            <a:normAutofit/>
          </a:bodyPr>
          <a:lstStyle/>
          <a:p>
            <a:pPr algn="l"/>
            <a:r>
              <a:rPr lang="fr-FR" sz="3500" b="1" dirty="0">
                <a:solidFill>
                  <a:srgbClr val="0070C0"/>
                </a:solidFill>
              </a:rPr>
              <a:t>R3</a:t>
            </a:r>
            <a:r>
              <a:rPr lang="fr-FR" sz="3500" b="1" dirty="0"/>
              <a:t>- Proportion des ventes d'appartements par le nombre de pièces</a:t>
            </a:r>
            <a:endParaRPr lang="fr-FR" sz="35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E5627B6-355C-D8A4-F48B-6BED41934670}"/>
              </a:ext>
            </a:extLst>
          </p:cNvPr>
          <p:cNvSpPr txBox="1"/>
          <p:nvPr/>
        </p:nvSpPr>
        <p:spPr>
          <a:xfrm>
            <a:off x="206479" y="1881222"/>
            <a:ext cx="6499122" cy="4185761"/>
          </a:xfrm>
          <a:prstGeom prst="rect">
            <a:avLst/>
          </a:prstGeom>
          <a:noFill/>
          <a:ln w="12700">
            <a:solidFill>
              <a:schemeClr val="accent1">
                <a:shade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fr-FR" sz="14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-- 3)Proportion des ventes d'appartements par le nombre de pièces</a:t>
            </a:r>
          </a:p>
          <a:p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4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SELECT </a:t>
            </a:r>
            <a:endParaRPr lang="fr-FR" sz="1400" kern="100" dirty="0">
              <a:solidFill>
                <a:srgbClr val="00B05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4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bien.total_piece </a:t>
            </a:r>
            <a:r>
              <a:rPr lang="fr-FR" sz="1400" b="1" kern="100" dirty="0">
                <a:solidFill>
                  <a:srgbClr val="C0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AS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Nb_pièce,</a:t>
            </a:r>
          </a:p>
          <a:p>
            <a:pPr>
              <a:buNone/>
            </a:pPr>
            <a:endParaRPr lang="fr-FR" sz="1400" b="1" kern="100" dirty="0">
              <a:solidFill>
                <a:srgbClr val="C00000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4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-- Calcul proportion/volume des ventes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400" b="1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COUNT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(*) </a:t>
            </a:r>
            <a:r>
              <a:rPr lang="en-US" sz="1400" b="1" kern="100" dirty="0">
                <a:solidFill>
                  <a:srgbClr val="C0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AS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"Nbr_ventes",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400" b="1" kern="100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ROUND(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COUNT(*)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*100 / </a:t>
            </a:r>
            <a:r>
              <a:rPr lang="en-US" sz="1400" b="1" kern="100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SUM(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COUNT(*)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 </a:t>
            </a:r>
            <a:r>
              <a:rPr lang="en-US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OVER(),</a:t>
            </a:r>
            <a:r>
              <a:rPr lang="en-US" sz="14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2)</a:t>
            </a:r>
            <a:r>
              <a:rPr lang="en-US" sz="1400" b="1" kern="100" dirty="0">
                <a:solidFill>
                  <a:srgbClr val="C0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 AS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"Prop_volume (%)",</a:t>
            </a:r>
          </a:p>
          <a:p>
            <a:pPr>
              <a:buNone/>
            </a:pP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4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-- Calcul proportion/montant des ventes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SUM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(vente.valeur_mutation) </a:t>
            </a:r>
            <a:r>
              <a:rPr lang="fr-FR" sz="1400" b="1" kern="100" dirty="0">
                <a:solidFill>
                  <a:srgbClr val="C0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AS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"Mt_ventes",</a:t>
            </a:r>
          </a:p>
          <a:p>
            <a:pPr>
              <a:buNone/>
            </a:pPr>
            <a:r>
              <a:rPr lang="fr-FR" sz="1400" b="1" kern="100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ROUND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fr-FR" sz="14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sum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fr-FR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vente.valeur_mutation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 *100 / </a:t>
            </a:r>
            <a:r>
              <a:rPr lang="fr-FR" sz="1400" b="1" kern="100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SUM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fr-FR" sz="14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sum</a:t>
            </a:r>
            <a:r>
              <a:rPr lang="fr-FR" sz="1400" b="1" kern="100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fr-FR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vente.valeur_mutation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 )   </a:t>
            </a:r>
          </a:p>
          <a:p>
            <a:pPr>
              <a:buNone/>
            </a:pP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fr-FR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OVER(),</a:t>
            </a:r>
            <a:r>
              <a:rPr lang="fr-FR" sz="14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2)</a:t>
            </a:r>
            <a:r>
              <a:rPr lang="fr-FR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AS 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"Prop_montant (%))"</a:t>
            </a:r>
          </a:p>
          <a:p>
            <a:pPr>
              <a:buNone/>
            </a:pPr>
            <a:r>
              <a:rPr lang="fr-FR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4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FROM</a:t>
            </a:r>
            <a:r>
              <a:rPr lang="fr-FR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vente</a:t>
            </a:r>
            <a:r>
              <a:rPr lang="fr-FR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4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JOIN</a:t>
            </a:r>
            <a:r>
              <a:rPr lang="fr-FR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bien </a:t>
            </a:r>
            <a:r>
              <a:rPr lang="fr-FR" sz="1400" b="1" kern="10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ON </a:t>
            </a:r>
            <a:r>
              <a:rPr lang="fr-FR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bien.id_bien = vente.id_bien</a:t>
            </a:r>
            <a:r>
              <a:rPr lang="fr-FR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4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WHERE </a:t>
            </a:r>
            <a:r>
              <a:rPr lang="en-US" sz="1400" b="1" kern="1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bien.type_local </a:t>
            </a:r>
            <a:r>
              <a:rPr lang="en-US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 '</a:t>
            </a:r>
            <a:r>
              <a:rPr lang="en-US" sz="1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Appartement</a:t>
            </a:r>
            <a:r>
              <a:rPr lang="en-US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</a:t>
            </a:r>
            <a:r>
              <a:rPr lang="en-US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4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GROUP BY </a:t>
            </a:r>
            <a:r>
              <a:rPr lang="en-US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bien.total_piece</a:t>
            </a:r>
            <a:r>
              <a:rPr lang="en-US" sz="14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4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ORDER BY </a:t>
            </a:r>
            <a:r>
              <a:rPr lang="en-US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bien.total_piece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6B36CCC1-5EEC-9EAA-44BB-7E772B97D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944043"/>
              </p:ext>
            </p:extLst>
          </p:nvPr>
        </p:nvGraphicFramePr>
        <p:xfrm>
          <a:off x="6920309" y="2111647"/>
          <a:ext cx="5134039" cy="37249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5011">
                  <a:extLst>
                    <a:ext uri="{9D8B030D-6E8A-4147-A177-3AD203B41FA5}">
                      <a16:colId xmlns:a16="http://schemas.microsoft.com/office/drawing/2014/main" val="1915972622"/>
                    </a:ext>
                  </a:extLst>
                </a:gridCol>
                <a:gridCol w="867996">
                  <a:extLst>
                    <a:ext uri="{9D8B030D-6E8A-4147-A177-3AD203B41FA5}">
                      <a16:colId xmlns:a16="http://schemas.microsoft.com/office/drawing/2014/main" val="2806781461"/>
                    </a:ext>
                  </a:extLst>
                </a:gridCol>
                <a:gridCol w="1027288">
                  <a:extLst>
                    <a:ext uri="{9D8B030D-6E8A-4147-A177-3AD203B41FA5}">
                      <a16:colId xmlns:a16="http://schemas.microsoft.com/office/drawing/2014/main" val="1452924827"/>
                    </a:ext>
                  </a:extLst>
                </a:gridCol>
                <a:gridCol w="1064711">
                  <a:extLst>
                    <a:ext uri="{9D8B030D-6E8A-4147-A177-3AD203B41FA5}">
                      <a16:colId xmlns:a16="http://schemas.microsoft.com/office/drawing/2014/main" val="2592916731"/>
                    </a:ext>
                  </a:extLst>
                </a:gridCol>
                <a:gridCol w="1229033">
                  <a:extLst>
                    <a:ext uri="{9D8B030D-6E8A-4147-A177-3AD203B41FA5}">
                      <a16:colId xmlns:a16="http://schemas.microsoft.com/office/drawing/2014/main" val="189395916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 dirty="0">
                          <a:effectLst/>
                        </a:rPr>
                        <a:t>Nbr_pièces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 dirty="0">
                          <a:effectLst/>
                        </a:rPr>
                        <a:t>Nbr_vente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 dirty="0">
                          <a:effectLst/>
                        </a:rPr>
                        <a:t>Prop_volume (%)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Montant vente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 dirty="0">
                          <a:effectLst/>
                        </a:rPr>
                        <a:t>Prop_montant (%)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4289880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 dirty="0">
                          <a:effectLst/>
                        </a:rPr>
                        <a:t>0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30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0,10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3 337 249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0,04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073696389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1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6 739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21,48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969 036 638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12,34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203091005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2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9 783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31,18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1 983 921 879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25,27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601283005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3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 dirty="0">
                          <a:effectLst/>
                        </a:rPr>
                        <a:t>8 966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28,57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2 425 437 082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30,89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283244675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4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4 460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14,21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1 507 375 435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19,2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67126652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1 114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3,55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587 777 021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 dirty="0">
                          <a:effectLst/>
                        </a:rPr>
                        <a:t>7,49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967645552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6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204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0,65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204 260 160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2,6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27825084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7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54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0,17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99 419 213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1,27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874804363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8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17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0,05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55 731 860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0,71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196410189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8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0,03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14 065 142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0,18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81429574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10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2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0,01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657 000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0,01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505460800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11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1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0,00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139 000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 dirty="0">
                          <a:effectLst/>
                        </a:rPr>
                        <a:t>0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508775559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kern="0">
                          <a:effectLst/>
                        </a:rPr>
                        <a:t>TOTAUX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effectLst/>
                        </a:rPr>
                        <a:t>31 378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effectLst/>
                        </a:rPr>
                        <a:t>100,00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effectLst/>
                        </a:rPr>
                        <a:t>7 851 157 679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effectLst/>
                        </a:rPr>
                        <a:t>100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594172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3616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AF9548-F003-81F5-D6E2-D778C57FE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16" y="355292"/>
            <a:ext cx="11511328" cy="1129379"/>
          </a:xfrm>
        </p:spPr>
        <p:txBody>
          <a:bodyPr>
            <a:noAutofit/>
          </a:bodyPr>
          <a:lstStyle/>
          <a:p>
            <a:r>
              <a:rPr lang="fr" sz="3500" b="1" dirty="0">
                <a:solidFill>
                  <a:srgbClr val="0070C0"/>
                </a:solidFill>
              </a:rPr>
              <a:t>R4</a:t>
            </a:r>
            <a:r>
              <a:rPr lang="fr" sz="3500" b="1" dirty="0"/>
              <a:t>- </a:t>
            </a:r>
            <a:r>
              <a:rPr lang="fr-FR" sz="3500" b="1" dirty="0"/>
              <a:t>Liste des 10 départements où le prix du mètre carré est le plus élevé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5183D46-162D-88A4-2C93-FE211BC61361}"/>
              </a:ext>
            </a:extLst>
          </p:cNvPr>
          <p:cNvSpPr txBox="1"/>
          <p:nvPr/>
        </p:nvSpPr>
        <p:spPr>
          <a:xfrm>
            <a:off x="169605" y="1888144"/>
            <a:ext cx="6388511" cy="392415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n"/>
            </a:pPr>
            <a:r>
              <a:rPr lang="fr-FR" sz="1200" b="1" dirty="0">
                <a:solidFill>
                  <a:srgbClr val="7030A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4)Liste des 10 départements où le prix du mètre carré est le plus élevé.</a:t>
            </a:r>
          </a:p>
          <a:p>
            <a:endParaRPr lang="fr-FR" sz="1400" dirty="0">
              <a:solidFill>
                <a:srgbClr val="7030A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400" b="1" dirty="0">
                <a:solidFill>
                  <a:srgbClr val="00B05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</a:p>
          <a:p>
            <a:r>
              <a:rPr lang="fr-FR" sz="1400" dirty="0">
                <a:ea typeface="Calibri" panose="020F0502020204030204" pitchFamily="34" charset="0"/>
                <a:cs typeface="Calibri" panose="020F0502020204030204" pitchFamily="34" charset="0"/>
              </a:rPr>
              <a:t>  departement.dep_code </a:t>
            </a:r>
            <a:r>
              <a:rPr lang="fr-FR" sz="1400" b="1" dirty="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fr-FR" sz="1400" dirty="0">
                <a:ea typeface="Calibri" panose="020F0502020204030204" pitchFamily="34" charset="0"/>
                <a:cs typeface="Calibri" panose="020F0502020204030204" pitchFamily="34" charset="0"/>
              </a:rPr>
              <a:t> "code département",</a:t>
            </a:r>
          </a:p>
          <a:p>
            <a:r>
              <a:rPr lang="fr-FR" sz="1400" dirty="0">
                <a:ea typeface="Calibri" panose="020F0502020204030204" pitchFamily="34" charset="0"/>
                <a:cs typeface="Calibri" panose="020F0502020204030204" pitchFamily="34" charset="0"/>
              </a:rPr>
              <a:t>  departement.dep_nom</a:t>
            </a:r>
            <a:r>
              <a:rPr lang="fr-FR" sz="1400" b="1" dirty="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lang="fr-FR" sz="1400" dirty="0">
                <a:ea typeface="Calibri" panose="020F0502020204030204" pitchFamily="34" charset="0"/>
                <a:cs typeface="Calibri" panose="020F0502020204030204" pitchFamily="34" charset="0"/>
              </a:rPr>
              <a:t>"Nom département",</a:t>
            </a:r>
          </a:p>
          <a:p>
            <a:r>
              <a:rPr lang="fr-FR" sz="1400" dirty="0">
                <a:ea typeface="Calibri" panose="020F0502020204030204" pitchFamily="34" charset="0"/>
                <a:cs typeface="Calibri" panose="020F0502020204030204" pitchFamily="34" charset="0"/>
              </a:rPr>
              <a:t>  sum(bien.surface_carrez) </a:t>
            </a:r>
            <a:r>
              <a:rPr lang="fr-FR" sz="1400" b="1" dirty="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AS </a:t>
            </a:r>
            <a:r>
              <a:rPr lang="fr-FR" sz="1400" dirty="0">
                <a:ea typeface="Calibri" panose="020F0502020204030204" pitchFamily="34" charset="0"/>
                <a:cs typeface="Calibri" panose="020F0502020204030204" pitchFamily="34" charset="0"/>
              </a:rPr>
              <a:t>"Surface",</a:t>
            </a:r>
          </a:p>
          <a:p>
            <a:r>
              <a:rPr lang="fr-FR" sz="1400" dirty="0">
                <a:ea typeface="Calibri" panose="020F0502020204030204" pitchFamily="34" charset="0"/>
                <a:cs typeface="Calibri" panose="020F0502020204030204" pitchFamily="34" charset="0"/>
              </a:rPr>
              <a:t>  sum(vente.valeur_mutation) </a:t>
            </a:r>
            <a:r>
              <a:rPr lang="fr-FR" sz="1400" b="1" dirty="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AS </a:t>
            </a:r>
            <a:r>
              <a:rPr lang="fr-FR" sz="1400" dirty="0">
                <a:ea typeface="Calibri" panose="020F0502020204030204" pitchFamily="34" charset="0"/>
                <a:cs typeface="Calibri" panose="020F0502020204030204" pitchFamily="34" charset="0"/>
              </a:rPr>
              <a:t>"Valeurs foncières",</a:t>
            </a:r>
          </a:p>
          <a:p>
            <a:r>
              <a:rPr lang="fr-FR" sz="1300" b="1" dirty="0">
                <a:solidFill>
                  <a:srgbClr val="C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ROUND</a:t>
            </a:r>
            <a:r>
              <a:rPr lang="fr-FR" sz="1300" dirty="0">
                <a:ea typeface="Calibri" panose="020F0502020204030204" pitchFamily="34" charset="0"/>
                <a:cs typeface="Calibri" panose="020F0502020204030204" pitchFamily="34" charset="0"/>
              </a:rPr>
              <a:t>((</a:t>
            </a:r>
            <a:r>
              <a:rPr lang="fr-FR" sz="1300" b="1" dirty="0">
                <a:ea typeface="Calibri" panose="020F0502020204030204" pitchFamily="34" charset="0"/>
                <a:cs typeface="Calibri" panose="020F0502020204030204" pitchFamily="34" charset="0"/>
              </a:rPr>
              <a:t>sum(vente.valeur_mutation) </a:t>
            </a:r>
            <a:r>
              <a:rPr lang="fr-FR" sz="1300" dirty="0">
                <a:ea typeface="Calibri" panose="020F0502020204030204" pitchFamily="34" charset="0"/>
                <a:cs typeface="Calibri" panose="020F0502020204030204" pitchFamily="34" charset="0"/>
              </a:rPr>
              <a:t>/ </a:t>
            </a:r>
            <a:r>
              <a:rPr lang="fr-FR" sz="1300" b="1" dirty="0">
                <a:ea typeface="Calibri" panose="020F0502020204030204" pitchFamily="34" charset="0"/>
                <a:cs typeface="Calibri" panose="020F0502020204030204" pitchFamily="34" charset="0"/>
              </a:rPr>
              <a:t>sum(bien.surface_carrez</a:t>
            </a:r>
            <a:r>
              <a:rPr lang="fr-FR" sz="1300" dirty="0">
                <a:ea typeface="Calibri" panose="020F0502020204030204" pitchFamily="34" charset="0"/>
                <a:cs typeface="Calibri" panose="020F0502020204030204" pitchFamily="34" charset="0"/>
              </a:rPr>
              <a:t>)) , </a:t>
            </a:r>
            <a:r>
              <a:rPr lang="fr-FR" sz="1300" b="1" dirty="0"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fr-FR" sz="1300" dirty="0"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fr-FR" sz="1300" b="1" dirty="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lang="fr-FR" sz="1300" b="1" dirty="0">
                <a:ea typeface="Calibri" panose="020F0502020204030204" pitchFamily="34" charset="0"/>
                <a:cs typeface="Calibri" panose="020F0502020204030204" pitchFamily="34" charset="0"/>
              </a:rPr>
              <a:t>"Prix m²" </a:t>
            </a:r>
          </a:p>
          <a:p>
            <a:endParaRPr lang="fr-FR" sz="1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400" b="1" dirty="0">
                <a:solidFill>
                  <a:srgbClr val="00B05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fr-FR" sz="1400" dirty="0">
                <a:ea typeface="Calibri" panose="020F0502020204030204" pitchFamily="34" charset="0"/>
                <a:cs typeface="Calibri" panose="020F0502020204030204" pitchFamily="34" charset="0"/>
              </a:rPr>
              <a:t>vente</a:t>
            </a:r>
          </a:p>
          <a:p>
            <a:r>
              <a:rPr lang="fr-FR" sz="1400" b="1" dirty="0">
                <a:solidFill>
                  <a:srgbClr val="00B05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  <a:r>
              <a:rPr lang="fr-FR" sz="1400" dirty="0">
                <a:ea typeface="Calibri" panose="020F0502020204030204" pitchFamily="34" charset="0"/>
                <a:cs typeface="Calibri" panose="020F0502020204030204" pitchFamily="34" charset="0"/>
              </a:rPr>
              <a:t> bien</a:t>
            </a:r>
            <a:r>
              <a:rPr lang="fr-FR" sz="1400" b="1" dirty="0">
                <a:solidFill>
                  <a:srgbClr val="00B05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fr-FR" sz="1400" dirty="0">
                <a:ea typeface="Calibri" panose="020F0502020204030204" pitchFamily="34" charset="0"/>
                <a:cs typeface="Calibri" panose="020F0502020204030204" pitchFamily="34" charset="0"/>
              </a:rPr>
              <a:t>bien.id_bien = vente.id_bien</a:t>
            </a:r>
          </a:p>
          <a:p>
            <a:r>
              <a:rPr lang="fr-FR" sz="1400" b="1" dirty="0">
                <a:solidFill>
                  <a:srgbClr val="00B05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  <a:r>
              <a:rPr lang="fr-FR" sz="1400" dirty="0">
                <a:ea typeface="Calibri" panose="020F0502020204030204" pitchFamily="34" charset="0"/>
                <a:cs typeface="Calibri" panose="020F0502020204030204" pitchFamily="34" charset="0"/>
              </a:rPr>
              <a:t> commune </a:t>
            </a:r>
            <a:r>
              <a:rPr lang="fr-FR" sz="1400" b="1" dirty="0">
                <a:solidFill>
                  <a:srgbClr val="00B05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lang="fr-FR" sz="1400" dirty="0">
                <a:ea typeface="Calibri" panose="020F0502020204030204" pitchFamily="34" charset="0"/>
                <a:cs typeface="Calibri" panose="020F0502020204030204" pitchFamily="34" charset="0"/>
              </a:rPr>
              <a:t>commune.code_dep_com = bien.code_dep_com</a:t>
            </a:r>
          </a:p>
          <a:p>
            <a:r>
              <a:rPr lang="fr-FR" sz="1400" b="1" dirty="0">
                <a:solidFill>
                  <a:srgbClr val="00B05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JOIN </a:t>
            </a:r>
            <a:r>
              <a:rPr lang="fr-FR" sz="1400" dirty="0">
                <a:ea typeface="Calibri" panose="020F0502020204030204" pitchFamily="34" charset="0"/>
                <a:cs typeface="Calibri" panose="020F0502020204030204" pitchFamily="34" charset="0"/>
              </a:rPr>
              <a:t>departement </a:t>
            </a:r>
            <a:r>
              <a:rPr lang="fr-FR" sz="1400" b="1" dirty="0">
                <a:solidFill>
                  <a:srgbClr val="00B05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lang="fr-FR" sz="1400" dirty="0">
                <a:ea typeface="Calibri" panose="020F0502020204030204" pitchFamily="34" charset="0"/>
                <a:cs typeface="Calibri" panose="020F0502020204030204" pitchFamily="34" charset="0"/>
              </a:rPr>
              <a:t>departement.dep_code = commune.dep_code</a:t>
            </a:r>
          </a:p>
          <a:p>
            <a:r>
              <a:rPr lang="fr-FR" sz="1400" b="1" dirty="0">
                <a:solidFill>
                  <a:srgbClr val="00B05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fr-FR" sz="1400" dirty="0">
                <a:ea typeface="Calibri" panose="020F0502020204030204" pitchFamily="34" charset="0"/>
                <a:cs typeface="Calibri" panose="020F0502020204030204" pitchFamily="34" charset="0"/>
              </a:rPr>
              <a:t> bien.surface_carrez &gt; 0  </a:t>
            </a:r>
            <a:r>
              <a:rPr lang="fr-FR" sz="1200" b="1" dirty="0">
                <a:solidFill>
                  <a:srgbClr val="7030A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-- Évite la division par zéro</a:t>
            </a:r>
          </a:p>
          <a:p>
            <a:r>
              <a:rPr lang="en-US" sz="1400" b="1" dirty="0">
                <a:solidFill>
                  <a:srgbClr val="00B05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GROUP BY </a:t>
            </a:r>
            <a:r>
              <a:rPr lang="en-US" sz="1400" dirty="0">
                <a:ea typeface="Calibri" panose="020F0502020204030204" pitchFamily="34" charset="0"/>
                <a:cs typeface="Calibri" panose="020F0502020204030204" pitchFamily="34" charset="0"/>
              </a:rPr>
              <a:t>departement.dep_code, departement.dep_nom</a:t>
            </a:r>
            <a:endParaRPr lang="fr-FR" sz="1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b="1" dirty="0">
                <a:solidFill>
                  <a:srgbClr val="00B05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ORDER BY </a:t>
            </a:r>
            <a:r>
              <a:rPr lang="en-US" sz="1400" b="1" dirty="0">
                <a:ea typeface="Calibri" panose="020F0502020204030204" pitchFamily="34" charset="0"/>
                <a:cs typeface="Calibri" panose="020F0502020204030204" pitchFamily="34" charset="0"/>
              </a:rPr>
              <a:t>"Prix m²" </a:t>
            </a:r>
            <a:endParaRPr lang="en-US" sz="1400" b="1" dirty="0">
              <a:solidFill>
                <a:srgbClr val="00B05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b="1" dirty="0">
                <a:solidFill>
                  <a:srgbClr val="00B05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LIMIT</a:t>
            </a:r>
            <a:r>
              <a:rPr lang="en-US" sz="1400" b="1" dirty="0">
                <a:ea typeface="Calibri" panose="020F0502020204030204" pitchFamily="34" charset="0"/>
                <a:cs typeface="Calibri" panose="020F0502020204030204" pitchFamily="34" charset="0"/>
              </a:rPr>
              <a:t> 10</a:t>
            </a:r>
            <a:r>
              <a:rPr lang="en-US" sz="1400" dirty="0"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endParaRPr lang="fr-FR" sz="14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13C2C23B-F8C7-94DA-5E38-5A5382DB4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951409"/>
              </p:ext>
            </p:extLst>
          </p:nvPr>
        </p:nvGraphicFramePr>
        <p:xfrm>
          <a:off x="6813973" y="1965089"/>
          <a:ext cx="4984952" cy="38472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136">
                  <a:extLst>
                    <a:ext uri="{9D8B030D-6E8A-4147-A177-3AD203B41FA5}">
                      <a16:colId xmlns:a16="http://schemas.microsoft.com/office/drawing/2014/main" val="2984831274"/>
                    </a:ext>
                  </a:extLst>
                </a:gridCol>
                <a:gridCol w="1096230">
                  <a:extLst>
                    <a:ext uri="{9D8B030D-6E8A-4147-A177-3AD203B41FA5}">
                      <a16:colId xmlns:a16="http://schemas.microsoft.com/office/drawing/2014/main" val="4203469447"/>
                    </a:ext>
                  </a:extLst>
                </a:gridCol>
                <a:gridCol w="992375">
                  <a:extLst>
                    <a:ext uri="{9D8B030D-6E8A-4147-A177-3AD203B41FA5}">
                      <a16:colId xmlns:a16="http://schemas.microsoft.com/office/drawing/2014/main" val="2306516485"/>
                    </a:ext>
                  </a:extLst>
                </a:gridCol>
                <a:gridCol w="1350092">
                  <a:extLst>
                    <a:ext uri="{9D8B030D-6E8A-4147-A177-3AD203B41FA5}">
                      <a16:colId xmlns:a16="http://schemas.microsoft.com/office/drawing/2014/main" val="511219734"/>
                    </a:ext>
                  </a:extLst>
                </a:gridCol>
                <a:gridCol w="623119">
                  <a:extLst>
                    <a:ext uri="{9D8B030D-6E8A-4147-A177-3AD203B41FA5}">
                      <a16:colId xmlns:a16="http://schemas.microsoft.com/office/drawing/2014/main" val="942681038"/>
                    </a:ext>
                  </a:extLst>
                </a:gridCol>
              </a:tblGrid>
              <a:tr h="4654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Code département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Nom département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Surface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Valeurs foncières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Prix m²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97498717"/>
                  </a:ext>
                </a:extLst>
              </a:tr>
              <a:tr h="338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249 933,12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2 973 890 342,00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11 898,74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14649183"/>
                  </a:ext>
                </a:extLst>
              </a:tr>
              <a:tr h="338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Hauts-de-Seine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102 789,08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744 006 157,00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7 238,18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1894819"/>
                  </a:ext>
                </a:extLst>
              </a:tr>
              <a:tr h="338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Val-de-Marne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110 975,56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536 164 441,00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4 831,37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67873245"/>
                  </a:ext>
                </a:extLst>
              </a:tr>
              <a:tr h="338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Alpes-Maritimes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72 207,27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331 274 231,00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4 587,82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82300459"/>
                  </a:ext>
                </a:extLst>
              </a:tr>
              <a:tr h="338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Haute-Savoie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19 627,58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81 635 375,00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4 159,22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7803435"/>
                  </a:ext>
                </a:extLst>
              </a:tr>
              <a:tr h="338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Seine-Saint-Denis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56 755,04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230 731 268,00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4 065,39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74362964"/>
                  </a:ext>
                </a:extLst>
              </a:tr>
              <a:tr h="338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Yvelines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101 990,73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408 182 949,00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4 002,16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04939699"/>
                  </a:ext>
                </a:extLst>
              </a:tr>
              <a:tr h="338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Rhône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91 622,13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356 730 380,00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3 893,50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75239745"/>
                  </a:ext>
                </a:extLst>
              </a:tr>
              <a:tr h="338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Corse-du-Sud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14 569,15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54 674 522,00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3 752,76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57256197"/>
                  </a:ext>
                </a:extLst>
              </a:tr>
              <a:tr h="338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Gironde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71 139,78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253 821 604,00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3 567,93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82651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770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5151D2-667E-57BD-3851-F3962A33F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793" y="403122"/>
            <a:ext cx="10176388" cy="1238711"/>
          </a:xfrm>
        </p:spPr>
        <p:txBody>
          <a:bodyPr>
            <a:normAutofit/>
          </a:bodyPr>
          <a:lstStyle/>
          <a:p>
            <a:pPr algn="l"/>
            <a:r>
              <a:rPr lang="fr-FR" sz="3900" b="1" dirty="0">
                <a:solidFill>
                  <a:srgbClr val="0070C0"/>
                </a:solidFill>
              </a:rPr>
              <a:t>R5</a:t>
            </a:r>
            <a:r>
              <a:rPr lang="fr-FR" sz="3900" b="1" dirty="0"/>
              <a:t>- Prix moyen du mètre carré d'une maison en Île-de-France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C5093A2-0B6E-2A04-1C74-E5BCEF0CEDDC}"/>
              </a:ext>
            </a:extLst>
          </p:cNvPr>
          <p:cNvSpPr txBox="1"/>
          <p:nvPr/>
        </p:nvSpPr>
        <p:spPr>
          <a:xfrm>
            <a:off x="511277" y="2261265"/>
            <a:ext cx="7079226" cy="3293209"/>
          </a:xfrm>
          <a:prstGeom prst="rect">
            <a:avLst/>
          </a:prstGeom>
          <a:noFill/>
          <a:ln w="12700">
            <a:solidFill>
              <a:schemeClr val="accent1">
                <a:shade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3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--5) Prix moyen du mètre carré d'une maison en Île-de-France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SELECT</a:t>
            </a:r>
            <a:endParaRPr lang="fr-FR" sz="1300" kern="100" dirty="0">
              <a:solidFill>
                <a:srgbClr val="00B05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region.reg_nom </a:t>
            </a:r>
            <a:r>
              <a:rPr lang="fr-FR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AS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"Région",</a:t>
            </a: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</a:t>
            </a:r>
            <a:r>
              <a:rPr lang="fr-FR" sz="1300" b="1" kern="100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ROUND(AVG</a:t>
            </a:r>
            <a:r>
              <a:rPr lang="fr-FR" sz="1300" b="1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FR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 </a:t>
            </a:r>
            <a:r>
              <a:rPr lang="fr-FR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vente.valeur_mutation</a:t>
            </a:r>
            <a:r>
              <a:rPr lang="fr-FR" sz="1300" b="1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 </a:t>
            </a:r>
            <a:r>
              <a:rPr lang="fr-FR" sz="13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bien.surface_</a:t>
            </a:r>
            <a:r>
              <a:rPr lang="fr-FR" sz="1300" b="1" kern="100" dirty="0">
                <a:solidFill>
                  <a:srgbClr val="00B050"/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carrez </a:t>
            </a:r>
            <a:r>
              <a:rPr lang="fr-FR" sz="1300" b="1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r>
              <a:rPr lang="fr-FR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2</a:t>
            </a:r>
            <a:r>
              <a:rPr lang="fr-FR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 AS </a:t>
            </a:r>
            <a:r>
              <a:rPr lang="fr-FR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"Prix moyen m²"</a:t>
            </a: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FROM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vente</a:t>
            </a: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JOIN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bien </a:t>
            </a:r>
            <a:r>
              <a:rPr lang="fr-FR" sz="1300" b="1" kern="100" dirty="0">
                <a:solidFill>
                  <a:srgbClr val="C0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ON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bien.id_bien = vente.id_bien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JOIN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commune </a:t>
            </a:r>
            <a:r>
              <a:rPr lang="fr-FR" sz="1300" b="1" kern="100" dirty="0">
                <a:solidFill>
                  <a:srgbClr val="C0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ON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commune.code_dep_com = bien.code_dep_com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JOIN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departement </a:t>
            </a:r>
            <a:r>
              <a:rPr lang="fr-FR" sz="1300" b="1" kern="100" dirty="0">
                <a:solidFill>
                  <a:srgbClr val="C0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ON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departement.dep_code = commune.dep_code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JOIN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region </a:t>
            </a:r>
            <a:r>
              <a:rPr lang="fr-FR" sz="1300" b="1" kern="100" dirty="0">
                <a:solidFill>
                  <a:srgbClr val="C0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ON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region.reg_code = departement.reg_code</a:t>
            </a: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WHERE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region.reg_nom = </a:t>
            </a:r>
            <a:r>
              <a:rPr lang="fr-FR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'Ile-de-France’  </a:t>
            </a:r>
            <a:r>
              <a:rPr lang="fr-FR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AND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bien.type_local = '</a:t>
            </a:r>
            <a:r>
              <a:rPr lang="fr-FR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Maison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 </a:t>
            </a:r>
          </a:p>
          <a:p>
            <a:pPr>
              <a:buNone/>
            </a:pPr>
            <a:r>
              <a:rPr lang="en-US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GROUP BY 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region.reg_code ,region.reg_nom ;</a:t>
            </a:r>
          </a:p>
          <a:p>
            <a:pPr>
              <a:buNone/>
            </a:pP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B9EB70A0-33DF-262B-FE90-2060A324E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421036"/>
              </p:ext>
            </p:extLst>
          </p:nvPr>
        </p:nvGraphicFramePr>
        <p:xfrm>
          <a:off x="7767484" y="3400278"/>
          <a:ext cx="3834581" cy="846392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1710015">
                  <a:extLst>
                    <a:ext uri="{9D8B030D-6E8A-4147-A177-3AD203B41FA5}">
                      <a16:colId xmlns:a16="http://schemas.microsoft.com/office/drawing/2014/main" val="1303092654"/>
                    </a:ext>
                  </a:extLst>
                </a:gridCol>
                <a:gridCol w="2124566">
                  <a:extLst>
                    <a:ext uri="{9D8B030D-6E8A-4147-A177-3AD203B41FA5}">
                      <a16:colId xmlns:a16="http://schemas.microsoft.com/office/drawing/2014/main" val="2626874863"/>
                    </a:ext>
                  </a:extLst>
                </a:gridCol>
              </a:tblGrid>
              <a:tr h="4048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b="1" kern="0" dirty="0">
                          <a:effectLst/>
                        </a:rPr>
                        <a:t>Région</a:t>
                      </a:r>
                      <a:endParaRPr lang="fr-FR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b="1" kern="0" dirty="0">
                          <a:effectLst/>
                        </a:rPr>
                        <a:t>Prix moyen m² (Maison)</a:t>
                      </a:r>
                      <a:endParaRPr lang="fr-FR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375035166"/>
                  </a:ext>
                </a:extLst>
              </a:tr>
              <a:tr h="4415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b="1" kern="0" dirty="0">
                          <a:effectLst/>
                        </a:rPr>
                        <a:t>Ile-de-France</a:t>
                      </a:r>
                      <a:endParaRPr lang="fr-FR" sz="1400" b="1" kern="100" dirty="0">
                        <a:effectLst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b="1" kern="1200" dirty="0">
                          <a:solidFill>
                            <a:schemeClr val="dk1"/>
                          </a:solidFill>
                          <a:effectLst/>
                        </a:rPr>
                        <a:t>3997,71</a:t>
                      </a:r>
                      <a:endParaRPr lang="fr-FR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30947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551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6728E0-D1E6-5DD5-B227-5CA05A592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6" y="255640"/>
            <a:ext cx="10803194" cy="1160206"/>
          </a:xfrm>
        </p:spPr>
        <p:txBody>
          <a:bodyPr>
            <a:noAutofit/>
          </a:bodyPr>
          <a:lstStyle/>
          <a:p>
            <a:br>
              <a:rPr lang="fr" sz="3500" b="1" dirty="0"/>
            </a:br>
            <a:r>
              <a:rPr lang="fr" sz="3500" b="1" dirty="0">
                <a:solidFill>
                  <a:srgbClr val="0070C0"/>
                </a:solidFill>
              </a:rPr>
              <a:t>R6</a:t>
            </a:r>
            <a:r>
              <a:rPr lang="fr" sz="3500" b="1" dirty="0"/>
              <a:t>- </a:t>
            </a:r>
            <a:r>
              <a:rPr lang="fr-FR" sz="3500" b="1" dirty="0"/>
              <a:t>Liste des 10 appartements les plus chers avec la région et le nombre de mètres carrés.</a:t>
            </a:r>
            <a:br>
              <a:rPr lang="fr-FR" dirty="0"/>
            </a:br>
            <a:endParaRPr lang="fr-FR" sz="35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F8DBBE7-71D5-E4F8-E522-B8A6B1D745AB}"/>
              </a:ext>
            </a:extLst>
          </p:cNvPr>
          <p:cNvSpPr txBox="1"/>
          <p:nvPr/>
        </p:nvSpPr>
        <p:spPr>
          <a:xfrm>
            <a:off x="334295" y="1701414"/>
            <a:ext cx="6105833" cy="372409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7030A0"/>
                </a:solidFill>
              </a:rPr>
              <a:t>--6)Liste des 10 appartements les plus chers avec la région et le nombre de mètres carrés</a:t>
            </a:r>
            <a:r>
              <a:rPr lang="fr-FR" sz="1400" b="1" dirty="0"/>
              <a:t>. </a:t>
            </a:r>
            <a:endParaRPr lang="fr-FR" sz="1400" dirty="0"/>
          </a:p>
          <a:p>
            <a:r>
              <a:rPr lang="fr-FR" sz="1400" b="1" dirty="0">
                <a:solidFill>
                  <a:srgbClr val="00B050"/>
                </a:solidFill>
              </a:rPr>
              <a:t>SELECT</a:t>
            </a:r>
            <a:r>
              <a:rPr lang="fr-FR" sz="1400" b="1" dirty="0"/>
              <a:t>	</a:t>
            </a:r>
            <a:endParaRPr lang="fr-FR" sz="1400" dirty="0"/>
          </a:p>
          <a:p>
            <a:r>
              <a:rPr lang="fr-FR" sz="1400" dirty="0"/>
              <a:t>region.reg_nom </a:t>
            </a:r>
            <a:r>
              <a:rPr lang="fr-FR" sz="1400" b="1" dirty="0">
                <a:solidFill>
                  <a:srgbClr val="0070C0"/>
                </a:solidFill>
              </a:rPr>
              <a:t>AS </a:t>
            </a:r>
            <a:r>
              <a:rPr lang="fr-FR" sz="1400" dirty="0"/>
              <a:t>"Région",</a:t>
            </a:r>
          </a:p>
          <a:p>
            <a:r>
              <a:rPr lang="fr-FR" sz="1400" dirty="0"/>
              <a:t>departement.dep_code AS "Code département",</a:t>
            </a:r>
          </a:p>
          <a:p>
            <a:r>
              <a:rPr lang="fr-FR" sz="1400" dirty="0"/>
              <a:t>departement.dep_nom </a:t>
            </a:r>
            <a:r>
              <a:rPr lang="fr-FR" sz="1400" b="1" dirty="0">
                <a:solidFill>
                  <a:srgbClr val="0070C0"/>
                </a:solidFill>
              </a:rPr>
              <a:t>AS</a:t>
            </a:r>
            <a:r>
              <a:rPr lang="fr-FR" sz="1400" dirty="0"/>
              <a:t> « Nom département",</a:t>
            </a:r>
          </a:p>
          <a:p>
            <a:r>
              <a:rPr lang="fr-FR" sz="1400" dirty="0"/>
              <a:t>bien.surface_carrez </a:t>
            </a:r>
            <a:r>
              <a:rPr lang="fr-FR" sz="1400" b="1" dirty="0">
                <a:solidFill>
                  <a:srgbClr val="0070C0"/>
                </a:solidFill>
              </a:rPr>
              <a:t> AS </a:t>
            </a:r>
            <a:r>
              <a:rPr lang="fr-FR" sz="1400" dirty="0"/>
              <a:t>"Surface carrez m²",</a:t>
            </a:r>
          </a:p>
          <a:p>
            <a:r>
              <a:rPr lang="fr-FR" sz="1400" dirty="0"/>
              <a:t>vente.valeur_mutation</a:t>
            </a:r>
            <a:r>
              <a:rPr lang="fr-FR" sz="1400" b="1" dirty="0">
                <a:solidFill>
                  <a:srgbClr val="0070C0"/>
                </a:solidFill>
              </a:rPr>
              <a:t> AS </a:t>
            </a:r>
            <a:r>
              <a:rPr lang="fr-FR" sz="1400" dirty="0"/>
              <a:t>"Mt vente €",</a:t>
            </a:r>
          </a:p>
          <a:p>
            <a:r>
              <a:rPr lang="fr-FR" sz="1400" b="1" dirty="0">
                <a:solidFill>
                  <a:srgbClr val="C00000"/>
                </a:solidFill>
              </a:rPr>
              <a:t>ROUND</a:t>
            </a:r>
            <a:r>
              <a:rPr lang="fr-FR" sz="1400" dirty="0"/>
              <a:t>(</a:t>
            </a:r>
            <a:r>
              <a:rPr lang="fr-FR" sz="1400" b="1" dirty="0"/>
              <a:t>vente.valeur_mutation / bien.surface_local,</a:t>
            </a:r>
            <a:r>
              <a:rPr lang="fr-FR" sz="1400" dirty="0"/>
              <a:t> 0)</a:t>
            </a:r>
            <a:r>
              <a:rPr lang="fr-FR" sz="1400" b="1" dirty="0">
                <a:solidFill>
                  <a:srgbClr val="0070C0"/>
                </a:solidFill>
              </a:rPr>
              <a:t> AS </a:t>
            </a:r>
            <a:r>
              <a:rPr lang="fr-FR" sz="1400" dirty="0"/>
              <a:t>"</a:t>
            </a:r>
            <a:r>
              <a:rPr lang="fr-FR" sz="1400" b="1" dirty="0"/>
              <a:t>Prix  m² (€)</a:t>
            </a:r>
            <a:r>
              <a:rPr lang="fr-FR" sz="1400" dirty="0"/>
              <a:t>"</a:t>
            </a:r>
          </a:p>
          <a:p>
            <a:r>
              <a:rPr lang="fr-FR" sz="1400" b="1" dirty="0">
                <a:solidFill>
                  <a:srgbClr val="00B050"/>
                </a:solidFill>
              </a:rPr>
              <a:t>FROM</a:t>
            </a:r>
            <a:r>
              <a:rPr lang="fr-FR" sz="1400" dirty="0"/>
              <a:t> vente </a:t>
            </a:r>
          </a:p>
          <a:p>
            <a:r>
              <a:rPr lang="fr-FR" sz="1400" b="1" dirty="0">
                <a:solidFill>
                  <a:srgbClr val="00B050"/>
                </a:solidFill>
              </a:rPr>
              <a:t>JOIN</a:t>
            </a:r>
            <a:r>
              <a:rPr lang="fr-FR" sz="1400" b="1" dirty="0"/>
              <a:t> </a:t>
            </a:r>
            <a:r>
              <a:rPr lang="fr-FR" sz="1400" dirty="0"/>
              <a:t>bien </a:t>
            </a:r>
            <a:r>
              <a:rPr lang="fr-FR" sz="1400" b="1" dirty="0">
                <a:solidFill>
                  <a:srgbClr val="0070C0"/>
                </a:solidFill>
              </a:rPr>
              <a:t>ON</a:t>
            </a:r>
            <a:r>
              <a:rPr lang="fr-FR" sz="1400" dirty="0"/>
              <a:t> bien.id_bien = vente.id_bien</a:t>
            </a:r>
          </a:p>
          <a:p>
            <a:r>
              <a:rPr lang="fr-FR" sz="1400" b="1" dirty="0">
                <a:solidFill>
                  <a:srgbClr val="00B050"/>
                </a:solidFill>
              </a:rPr>
              <a:t>JOIN </a:t>
            </a:r>
            <a:r>
              <a:rPr lang="fr-FR" sz="1400" dirty="0"/>
              <a:t>commune</a:t>
            </a:r>
            <a:r>
              <a:rPr lang="fr-FR" sz="1400" b="1" dirty="0"/>
              <a:t> </a:t>
            </a:r>
            <a:r>
              <a:rPr lang="fr-FR" sz="1400" b="1" dirty="0">
                <a:solidFill>
                  <a:srgbClr val="0070C0"/>
                </a:solidFill>
              </a:rPr>
              <a:t>ON </a:t>
            </a:r>
            <a:r>
              <a:rPr lang="fr-FR" sz="1400" dirty="0"/>
              <a:t>commune.code_dep_com = bien.code_dep_com</a:t>
            </a:r>
          </a:p>
          <a:p>
            <a:r>
              <a:rPr lang="fr-FR" sz="1400" b="1" dirty="0">
                <a:solidFill>
                  <a:srgbClr val="00B050"/>
                </a:solidFill>
              </a:rPr>
              <a:t>JOIN </a:t>
            </a:r>
            <a:r>
              <a:rPr lang="fr-FR" sz="1400" dirty="0"/>
              <a:t>departement</a:t>
            </a:r>
            <a:r>
              <a:rPr lang="fr-FR" sz="1400" b="1" dirty="0"/>
              <a:t> O</a:t>
            </a:r>
            <a:r>
              <a:rPr lang="fr-FR" sz="1400" b="1" dirty="0">
                <a:solidFill>
                  <a:srgbClr val="0070C0"/>
                </a:solidFill>
              </a:rPr>
              <a:t>N</a:t>
            </a:r>
            <a:r>
              <a:rPr lang="fr-FR" sz="1400" dirty="0"/>
              <a:t> departement.dep_code = commune.dep_code</a:t>
            </a:r>
          </a:p>
          <a:p>
            <a:r>
              <a:rPr lang="fr-FR" sz="1400" b="1" dirty="0">
                <a:solidFill>
                  <a:srgbClr val="00B050"/>
                </a:solidFill>
              </a:rPr>
              <a:t>JOIN</a:t>
            </a:r>
            <a:r>
              <a:rPr lang="fr-FR" sz="1400" b="1" dirty="0"/>
              <a:t> </a:t>
            </a:r>
            <a:r>
              <a:rPr lang="fr-FR" sz="1400" dirty="0"/>
              <a:t>region </a:t>
            </a:r>
            <a:r>
              <a:rPr lang="fr-FR" sz="1400" b="1" dirty="0">
                <a:solidFill>
                  <a:srgbClr val="0070C0"/>
                </a:solidFill>
              </a:rPr>
              <a:t>ON</a:t>
            </a:r>
            <a:r>
              <a:rPr lang="fr-FR" sz="1400" dirty="0"/>
              <a:t> region.reg_code = departement.reg_code</a:t>
            </a:r>
            <a:r>
              <a:rPr lang="fr-FR" sz="1400" b="1" dirty="0"/>
              <a:t> </a:t>
            </a:r>
            <a:endParaRPr lang="fr-FR" sz="1400" dirty="0"/>
          </a:p>
          <a:p>
            <a:r>
              <a:rPr lang="fr-FR" sz="1400" b="1" dirty="0">
                <a:solidFill>
                  <a:srgbClr val="00B050"/>
                </a:solidFill>
              </a:rPr>
              <a:t>WHERE</a:t>
            </a:r>
            <a:r>
              <a:rPr lang="fr-FR" sz="1400" dirty="0"/>
              <a:t> </a:t>
            </a:r>
            <a:r>
              <a:rPr lang="fr-FR" sz="1400" b="1" dirty="0"/>
              <a:t>bien.type_local = 'Appartement'</a:t>
            </a:r>
            <a:r>
              <a:rPr lang="fr-FR" sz="1400" dirty="0"/>
              <a:t> </a:t>
            </a:r>
          </a:p>
          <a:p>
            <a:r>
              <a:rPr lang="fr-FR" sz="1400" b="1" dirty="0">
                <a:solidFill>
                  <a:srgbClr val="00B050"/>
                </a:solidFill>
              </a:rPr>
              <a:t>ORDER BY </a:t>
            </a:r>
            <a:r>
              <a:rPr lang="fr-FR" sz="1400" dirty="0"/>
              <a:t>vente.valeur_mutation </a:t>
            </a:r>
            <a:r>
              <a:rPr lang="fr-FR" sz="1400" b="1" dirty="0">
                <a:solidFill>
                  <a:srgbClr val="00B050"/>
                </a:solidFill>
              </a:rPr>
              <a:t>DESC </a:t>
            </a:r>
          </a:p>
          <a:p>
            <a:r>
              <a:rPr lang="fr-FR" sz="1400" b="1" dirty="0">
                <a:solidFill>
                  <a:srgbClr val="00B050"/>
                </a:solidFill>
              </a:rPr>
              <a:t>LIMIT </a:t>
            </a:r>
            <a:r>
              <a:rPr lang="fr-FR" sz="1400" b="1" dirty="0"/>
              <a:t>10;</a:t>
            </a:r>
            <a:endParaRPr lang="fr-FR" b="1" dirty="0"/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FA9EC788-B252-4E7C-AED6-1841092CC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847451"/>
              </p:ext>
            </p:extLst>
          </p:nvPr>
        </p:nvGraphicFramePr>
        <p:xfrm>
          <a:off x="6570367" y="1701415"/>
          <a:ext cx="5238173" cy="372409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10304">
                  <a:extLst>
                    <a:ext uri="{9D8B030D-6E8A-4147-A177-3AD203B41FA5}">
                      <a16:colId xmlns:a16="http://schemas.microsoft.com/office/drawing/2014/main" val="1248695585"/>
                    </a:ext>
                  </a:extLst>
                </a:gridCol>
                <a:gridCol w="953729">
                  <a:extLst>
                    <a:ext uri="{9D8B030D-6E8A-4147-A177-3AD203B41FA5}">
                      <a16:colId xmlns:a16="http://schemas.microsoft.com/office/drawing/2014/main" val="3628702750"/>
                    </a:ext>
                  </a:extLst>
                </a:gridCol>
                <a:gridCol w="963561">
                  <a:extLst>
                    <a:ext uri="{9D8B030D-6E8A-4147-A177-3AD203B41FA5}">
                      <a16:colId xmlns:a16="http://schemas.microsoft.com/office/drawing/2014/main" val="912084336"/>
                    </a:ext>
                  </a:extLst>
                </a:gridCol>
                <a:gridCol w="698091">
                  <a:extLst>
                    <a:ext uri="{9D8B030D-6E8A-4147-A177-3AD203B41FA5}">
                      <a16:colId xmlns:a16="http://schemas.microsoft.com/office/drawing/2014/main" val="2522614380"/>
                    </a:ext>
                  </a:extLst>
                </a:gridCol>
                <a:gridCol w="781199">
                  <a:extLst>
                    <a:ext uri="{9D8B030D-6E8A-4147-A177-3AD203B41FA5}">
                      <a16:colId xmlns:a16="http://schemas.microsoft.com/office/drawing/2014/main" val="1573053869"/>
                    </a:ext>
                  </a:extLst>
                </a:gridCol>
                <a:gridCol w="831289">
                  <a:extLst>
                    <a:ext uri="{9D8B030D-6E8A-4147-A177-3AD203B41FA5}">
                      <a16:colId xmlns:a16="http://schemas.microsoft.com/office/drawing/2014/main" val="2329932030"/>
                    </a:ext>
                  </a:extLst>
                </a:gridCol>
              </a:tblGrid>
              <a:tr h="3865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Région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Code département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Nom département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Surface carrez m²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Mt vente €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Prix  m² (€)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16803860"/>
                  </a:ext>
                </a:extLst>
              </a:tr>
              <a:tr h="3337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Ile-de-France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75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Paris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9,10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9 000 000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989 011</a:t>
                      </a:r>
                      <a:endParaRPr lang="fr-FR" sz="1200" b="1" i="0" u="none" strike="noStrike" dirty="0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50174936"/>
                  </a:ext>
                </a:extLst>
              </a:tr>
              <a:tr h="3337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Ile-de-France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91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Essonne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64,00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8 600 000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134 375</a:t>
                      </a:r>
                      <a:endParaRPr lang="fr-FR" sz="1200" b="1" i="0" u="none" strike="noStrike" dirty="0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22866732"/>
                  </a:ext>
                </a:extLst>
              </a:tr>
              <a:tr h="3337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Ile-de-France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75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Paris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20,55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8 577 713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417 407</a:t>
                      </a:r>
                      <a:endParaRPr lang="fr-FR" sz="1200" b="1" i="0" u="none" strike="noStrike" dirty="0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86729593"/>
                  </a:ext>
                </a:extLst>
              </a:tr>
              <a:tr h="3337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Ile-de-France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75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Paris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42,77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7 620 000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178 162</a:t>
                      </a:r>
                      <a:endParaRPr lang="fr-FR" sz="1200" b="1" i="0" u="none" strike="noStrike" dirty="0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00932917"/>
                  </a:ext>
                </a:extLst>
              </a:tr>
              <a:tr h="3337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Ile-de-France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75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Paris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253,30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7 600 000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30 004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33276313"/>
                  </a:ext>
                </a:extLst>
              </a:tr>
              <a:tr h="3337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Ile-de-France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75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Paris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139,90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7 535 000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53 860</a:t>
                      </a:r>
                      <a:endParaRPr lang="fr-FR" sz="1200" b="1" i="0" u="none" strike="noStrike" dirty="0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43194141"/>
                  </a:ext>
                </a:extLst>
              </a:tr>
              <a:tr h="3337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Ile-de-France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75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Paris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360,95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7 420 000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20 557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77414449"/>
                  </a:ext>
                </a:extLst>
              </a:tr>
              <a:tr h="3337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Ile-de-France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75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Paris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595,00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7 200 000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12 101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11466181"/>
                  </a:ext>
                </a:extLst>
              </a:tr>
              <a:tr h="3337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Ile-de-France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75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Paris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122,56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7 050 000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57 523</a:t>
                      </a:r>
                      <a:endParaRPr lang="fr-FR" sz="1200" b="1" i="0" u="none" strike="noStrike" dirty="0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33533189"/>
                  </a:ext>
                </a:extLst>
              </a:tr>
              <a:tr h="3337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Ile-de-France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75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Paris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79,38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6 600 000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83 144</a:t>
                      </a:r>
                      <a:endParaRPr lang="fr-FR" sz="1200" b="1" i="0" u="none" strike="noStrike" dirty="0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24774835"/>
                  </a:ext>
                </a:extLst>
              </a:tr>
            </a:tbl>
          </a:graphicData>
        </a:graphic>
      </p:graphicFrame>
      <p:sp>
        <p:nvSpPr>
          <p:cNvPr id="13" name="ZoneTexte 12">
            <a:extLst>
              <a:ext uri="{FF2B5EF4-FFF2-40B4-BE49-F238E27FC236}">
                <a16:creationId xmlns:a16="http://schemas.microsoft.com/office/drawing/2014/main" id="{3F1BBF44-DFED-529E-38EB-38E246FFC954}"/>
              </a:ext>
            </a:extLst>
          </p:cNvPr>
          <p:cNvSpPr txBox="1"/>
          <p:nvPr/>
        </p:nvSpPr>
        <p:spPr>
          <a:xfrm>
            <a:off x="471946" y="5818802"/>
            <a:ext cx="11336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⚠️ </a:t>
            </a:r>
            <a:r>
              <a:rPr lang="fr-FR" sz="1600" b="1" dirty="0"/>
              <a:t>Attention :</a:t>
            </a:r>
            <a:r>
              <a:rPr lang="fr-FR" sz="1600" dirty="0"/>
              <a:t> Les données publiques peuvent contenir des erreurs de saisie ou des mutations complexes. La vigilance de l'analyste est la clé de la fiabilité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8554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D05B3-E0E8-12F1-6619-77F96471C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91D8B6-5F3D-3E12-3F55-5EB21FFD6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6" y="374958"/>
            <a:ext cx="10803194" cy="1060552"/>
          </a:xfrm>
        </p:spPr>
        <p:txBody>
          <a:bodyPr>
            <a:noAutofit/>
          </a:bodyPr>
          <a:lstStyle/>
          <a:p>
            <a:r>
              <a:rPr lang="fr" sz="3500" b="1" dirty="0">
                <a:solidFill>
                  <a:srgbClr val="0070C0"/>
                </a:solidFill>
              </a:rPr>
              <a:t>R6</a:t>
            </a:r>
            <a:r>
              <a:rPr lang="fr" sz="3500" b="1" dirty="0"/>
              <a:t>- Liste des 10 appartements les plus chers </a:t>
            </a:r>
            <a:r>
              <a:rPr lang="fr" sz="1600" b="1" dirty="0"/>
              <a:t>(Script ajusté)</a:t>
            </a:r>
            <a:endParaRPr lang="fr-FR" sz="1600" b="1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5E8624F1-F532-6CC3-5303-1F34BCDFF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554424"/>
              </p:ext>
            </p:extLst>
          </p:nvPr>
        </p:nvGraphicFramePr>
        <p:xfrm>
          <a:off x="6482530" y="1870402"/>
          <a:ext cx="5335843" cy="397071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9866">
                  <a:extLst>
                    <a:ext uri="{9D8B030D-6E8A-4147-A177-3AD203B41FA5}">
                      <a16:colId xmlns:a16="http://schemas.microsoft.com/office/drawing/2014/main" val="2874875"/>
                    </a:ext>
                  </a:extLst>
                </a:gridCol>
                <a:gridCol w="826105">
                  <a:extLst>
                    <a:ext uri="{9D8B030D-6E8A-4147-A177-3AD203B41FA5}">
                      <a16:colId xmlns:a16="http://schemas.microsoft.com/office/drawing/2014/main" val="2861200453"/>
                    </a:ext>
                  </a:extLst>
                </a:gridCol>
                <a:gridCol w="914020">
                  <a:extLst>
                    <a:ext uri="{9D8B030D-6E8A-4147-A177-3AD203B41FA5}">
                      <a16:colId xmlns:a16="http://schemas.microsoft.com/office/drawing/2014/main" val="1566662005"/>
                    </a:ext>
                  </a:extLst>
                </a:gridCol>
                <a:gridCol w="571261">
                  <a:extLst>
                    <a:ext uri="{9D8B030D-6E8A-4147-A177-3AD203B41FA5}">
                      <a16:colId xmlns:a16="http://schemas.microsoft.com/office/drawing/2014/main" val="1876390954"/>
                    </a:ext>
                  </a:extLst>
                </a:gridCol>
                <a:gridCol w="870076">
                  <a:extLst>
                    <a:ext uri="{9D8B030D-6E8A-4147-A177-3AD203B41FA5}">
                      <a16:colId xmlns:a16="http://schemas.microsoft.com/office/drawing/2014/main" val="3818865600"/>
                    </a:ext>
                  </a:extLst>
                </a:gridCol>
                <a:gridCol w="1214515">
                  <a:extLst>
                    <a:ext uri="{9D8B030D-6E8A-4147-A177-3AD203B41FA5}">
                      <a16:colId xmlns:a16="http://schemas.microsoft.com/office/drawing/2014/main" val="3864306439"/>
                    </a:ext>
                  </a:extLst>
                </a:gridCol>
              </a:tblGrid>
              <a:tr h="5086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Région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Code département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 département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Surface carrez m²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Mt vente 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Prix  m² (€)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43291561"/>
                  </a:ext>
                </a:extLst>
              </a:tr>
              <a:tr h="3414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Ile-de-France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253,30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7 600 000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30 004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76328233"/>
                  </a:ext>
                </a:extLst>
              </a:tr>
              <a:tr h="3414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Ile-de-France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360,95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7 420 000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20 557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8938199"/>
                  </a:ext>
                </a:extLst>
              </a:tr>
              <a:tr h="3414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Ile-de-France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595,00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7 200 000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12 101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65534827"/>
                  </a:ext>
                </a:extLst>
              </a:tr>
              <a:tr h="3414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Ile-de-France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317,05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6 500 000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20 502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3062480"/>
                  </a:ext>
                </a:extLst>
              </a:tr>
              <a:tr h="3414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Ile-de-France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205,08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6 000 000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29 257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60588588"/>
                  </a:ext>
                </a:extLst>
              </a:tr>
              <a:tr h="3414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Ile-de-France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170,82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5 600 000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32 783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53777558"/>
                  </a:ext>
                </a:extLst>
              </a:tr>
              <a:tr h="3414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Ile-de-France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328,35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5 550 000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16 903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70700460"/>
                  </a:ext>
                </a:extLst>
              </a:tr>
              <a:tr h="3414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Ile-de-France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157,00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5 500 000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35 032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16430990"/>
                  </a:ext>
                </a:extLst>
              </a:tr>
              <a:tr h="3414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Ile-de-France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211,07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5 054 500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23 947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55196184"/>
                  </a:ext>
                </a:extLst>
              </a:tr>
              <a:tr h="3414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Ile-de-France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390,10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4 657 000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11 938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54283346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41D640EB-8016-385D-3AA8-DBD6D0C3326E}"/>
              </a:ext>
            </a:extLst>
          </p:cNvPr>
          <p:cNvSpPr txBox="1"/>
          <p:nvPr/>
        </p:nvSpPr>
        <p:spPr>
          <a:xfrm>
            <a:off x="270348" y="1747684"/>
            <a:ext cx="6061626" cy="409342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rgbClr val="7030A0"/>
                </a:solidFill>
              </a:rPr>
              <a:t>--6) Liste des 10 appartements les plus chers avec la région et le nombre de mètres carrés</a:t>
            </a:r>
            <a:r>
              <a:rPr lang="fr-FR" sz="1200" b="1" dirty="0"/>
              <a:t>. </a:t>
            </a:r>
            <a:endParaRPr lang="fr-FR" sz="1200" dirty="0"/>
          </a:p>
          <a:p>
            <a:r>
              <a:rPr lang="fr-FR" sz="1400" b="1" dirty="0">
                <a:solidFill>
                  <a:srgbClr val="00B050"/>
                </a:solidFill>
              </a:rPr>
              <a:t>SELECT</a:t>
            </a:r>
            <a:r>
              <a:rPr lang="fr-FR" sz="1400" b="1" dirty="0"/>
              <a:t>	</a:t>
            </a:r>
            <a:endParaRPr lang="fr-FR" sz="1400" dirty="0"/>
          </a:p>
          <a:p>
            <a:r>
              <a:rPr lang="fr-FR" sz="1400" dirty="0"/>
              <a:t>region.reg_nom </a:t>
            </a:r>
            <a:r>
              <a:rPr lang="fr-FR" sz="1400" b="1" dirty="0">
                <a:solidFill>
                  <a:srgbClr val="0070C0"/>
                </a:solidFill>
              </a:rPr>
              <a:t>AS </a:t>
            </a:r>
            <a:r>
              <a:rPr lang="fr-FR" sz="1400" dirty="0"/>
              <a:t>"Région",</a:t>
            </a:r>
          </a:p>
          <a:p>
            <a:r>
              <a:rPr lang="fr-FR" sz="1400" dirty="0"/>
              <a:t>departement.dep_code </a:t>
            </a:r>
            <a:r>
              <a:rPr lang="fr-FR" sz="1400" b="1" dirty="0">
                <a:solidFill>
                  <a:srgbClr val="0070C0"/>
                </a:solidFill>
              </a:rPr>
              <a:t>AS </a:t>
            </a:r>
            <a:r>
              <a:rPr lang="fr-FR" sz="1400" dirty="0"/>
              <a:t>"Code département",</a:t>
            </a:r>
          </a:p>
          <a:p>
            <a:r>
              <a:rPr lang="fr-FR" sz="1400" dirty="0"/>
              <a:t>departement.dep_nom </a:t>
            </a:r>
            <a:r>
              <a:rPr lang="fr-FR" sz="1400" b="1" dirty="0">
                <a:solidFill>
                  <a:srgbClr val="0070C0"/>
                </a:solidFill>
              </a:rPr>
              <a:t>AS</a:t>
            </a:r>
            <a:r>
              <a:rPr lang="fr-FR" sz="1400" dirty="0"/>
              <a:t> "Département",</a:t>
            </a:r>
          </a:p>
          <a:p>
            <a:r>
              <a:rPr lang="fr-FR" sz="1400" dirty="0"/>
              <a:t>bien.surface_carrez </a:t>
            </a:r>
            <a:r>
              <a:rPr lang="fr-FR" sz="1400" b="1" dirty="0">
                <a:solidFill>
                  <a:srgbClr val="0070C0"/>
                </a:solidFill>
              </a:rPr>
              <a:t> AS </a:t>
            </a:r>
            <a:r>
              <a:rPr lang="fr-FR" sz="1400" dirty="0"/>
              <a:t>"Surface carrez m²",</a:t>
            </a:r>
          </a:p>
          <a:p>
            <a:r>
              <a:rPr lang="fr-FR" sz="1400" dirty="0"/>
              <a:t>vente.valeur_mutation</a:t>
            </a:r>
            <a:r>
              <a:rPr lang="fr-FR" sz="1400" b="1" dirty="0">
                <a:solidFill>
                  <a:srgbClr val="0070C0"/>
                </a:solidFill>
              </a:rPr>
              <a:t> AS </a:t>
            </a:r>
            <a:r>
              <a:rPr lang="fr-FR" sz="1400" dirty="0"/>
              <a:t>"Mt vente",</a:t>
            </a:r>
          </a:p>
          <a:p>
            <a:r>
              <a:rPr lang="fr-FR" sz="1400" b="1" dirty="0">
                <a:solidFill>
                  <a:srgbClr val="C00000"/>
                </a:solidFill>
              </a:rPr>
              <a:t>ROUND</a:t>
            </a:r>
            <a:r>
              <a:rPr lang="fr-FR" sz="1400" dirty="0"/>
              <a:t>(</a:t>
            </a:r>
            <a:r>
              <a:rPr lang="fr-FR" sz="1400" b="1" dirty="0">
                <a:solidFill>
                  <a:srgbClr val="7030A0"/>
                </a:solidFill>
              </a:rPr>
              <a:t>vente.valeur_mutation </a:t>
            </a:r>
            <a:r>
              <a:rPr lang="fr-FR" sz="1400" b="1" dirty="0"/>
              <a:t>/ </a:t>
            </a:r>
            <a:r>
              <a:rPr lang="fr-FR" sz="1400" b="1" dirty="0">
                <a:solidFill>
                  <a:srgbClr val="C00000"/>
                </a:solidFill>
              </a:rPr>
              <a:t>bien.surface_carrez</a:t>
            </a:r>
            <a:r>
              <a:rPr lang="fr-FR" sz="1400" b="1" dirty="0"/>
              <a:t>,</a:t>
            </a:r>
            <a:r>
              <a:rPr lang="fr-FR" sz="1400" dirty="0"/>
              <a:t> 0)</a:t>
            </a:r>
            <a:r>
              <a:rPr lang="fr-FR" sz="1400" b="1" dirty="0">
                <a:solidFill>
                  <a:srgbClr val="0070C0"/>
                </a:solidFill>
              </a:rPr>
              <a:t> AS </a:t>
            </a:r>
            <a:r>
              <a:rPr lang="fr-FR" sz="1400" dirty="0"/>
              <a:t>"</a:t>
            </a:r>
            <a:r>
              <a:rPr lang="fr-FR" sz="1400" b="1" dirty="0"/>
              <a:t>Prix  m² (€)</a:t>
            </a:r>
            <a:r>
              <a:rPr lang="fr-FR" sz="1400" dirty="0"/>
              <a:t>"</a:t>
            </a:r>
          </a:p>
          <a:p>
            <a:r>
              <a:rPr lang="fr-FR" sz="1400" b="1" dirty="0">
                <a:solidFill>
                  <a:srgbClr val="00B050"/>
                </a:solidFill>
              </a:rPr>
              <a:t>FROM</a:t>
            </a:r>
            <a:r>
              <a:rPr lang="fr-FR" sz="1400" dirty="0"/>
              <a:t> vente </a:t>
            </a:r>
          </a:p>
          <a:p>
            <a:r>
              <a:rPr lang="fr-FR" sz="1400" b="1" dirty="0">
                <a:solidFill>
                  <a:srgbClr val="00B050"/>
                </a:solidFill>
              </a:rPr>
              <a:t>JOIN</a:t>
            </a:r>
            <a:r>
              <a:rPr lang="fr-FR" sz="1400" b="1" dirty="0"/>
              <a:t> </a:t>
            </a:r>
            <a:r>
              <a:rPr lang="fr-FR" sz="1400" dirty="0"/>
              <a:t>bien </a:t>
            </a:r>
            <a:r>
              <a:rPr lang="fr-FR" sz="1400" b="1" dirty="0">
                <a:solidFill>
                  <a:srgbClr val="0070C0"/>
                </a:solidFill>
              </a:rPr>
              <a:t>ON</a:t>
            </a:r>
            <a:r>
              <a:rPr lang="fr-FR" sz="1400" dirty="0"/>
              <a:t> bien.id_bien = vente.id_bien</a:t>
            </a:r>
          </a:p>
          <a:p>
            <a:r>
              <a:rPr lang="fr-FR" sz="1400" b="1" dirty="0">
                <a:solidFill>
                  <a:srgbClr val="00B050"/>
                </a:solidFill>
              </a:rPr>
              <a:t>JOIN </a:t>
            </a:r>
            <a:r>
              <a:rPr lang="fr-FR" sz="1400" dirty="0"/>
              <a:t>commune</a:t>
            </a:r>
            <a:r>
              <a:rPr lang="fr-FR" sz="1400" b="1" dirty="0"/>
              <a:t> </a:t>
            </a:r>
            <a:r>
              <a:rPr lang="fr-FR" sz="1400" b="1" dirty="0">
                <a:solidFill>
                  <a:srgbClr val="0070C0"/>
                </a:solidFill>
              </a:rPr>
              <a:t>ON </a:t>
            </a:r>
            <a:r>
              <a:rPr lang="fr-FR" sz="1400" dirty="0"/>
              <a:t>commune.code_dep_com = bien.code_dep_com</a:t>
            </a:r>
          </a:p>
          <a:p>
            <a:r>
              <a:rPr lang="fr-FR" sz="1400" b="1" dirty="0">
                <a:solidFill>
                  <a:srgbClr val="00B050"/>
                </a:solidFill>
              </a:rPr>
              <a:t>JOIN </a:t>
            </a:r>
            <a:r>
              <a:rPr lang="fr-FR" sz="1400" dirty="0"/>
              <a:t>departement</a:t>
            </a:r>
            <a:r>
              <a:rPr lang="fr-FR" sz="1400" b="1" dirty="0"/>
              <a:t> O</a:t>
            </a:r>
            <a:r>
              <a:rPr lang="fr-FR" sz="1400" b="1" dirty="0">
                <a:solidFill>
                  <a:srgbClr val="0070C0"/>
                </a:solidFill>
              </a:rPr>
              <a:t>N</a:t>
            </a:r>
            <a:r>
              <a:rPr lang="fr-FR" sz="1400" dirty="0"/>
              <a:t> departement.dep_code = commune.dep_code</a:t>
            </a:r>
          </a:p>
          <a:p>
            <a:r>
              <a:rPr lang="fr-FR" sz="1400" b="1" dirty="0">
                <a:solidFill>
                  <a:srgbClr val="00B050"/>
                </a:solidFill>
              </a:rPr>
              <a:t>JOIN</a:t>
            </a:r>
            <a:r>
              <a:rPr lang="fr-FR" sz="1400" b="1" dirty="0"/>
              <a:t> </a:t>
            </a:r>
            <a:r>
              <a:rPr lang="fr-FR" sz="1400" dirty="0"/>
              <a:t>region </a:t>
            </a:r>
            <a:r>
              <a:rPr lang="fr-FR" sz="1400" b="1" dirty="0">
                <a:solidFill>
                  <a:srgbClr val="0070C0"/>
                </a:solidFill>
              </a:rPr>
              <a:t>ON</a:t>
            </a:r>
            <a:r>
              <a:rPr lang="fr-FR" sz="1400" dirty="0"/>
              <a:t> region.reg_code = departement.reg_code</a:t>
            </a:r>
            <a:r>
              <a:rPr lang="fr-FR" sz="1400" b="1" dirty="0"/>
              <a:t> </a:t>
            </a:r>
            <a:endParaRPr lang="fr-FR" sz="1400" dirty="0"/>
          </a:p>
          <a:p>
            <a:r>
              <a:rPr lang="fr-FR" sz="1400" b="1" dirty="0">
                <a:solidFill>
                  <a:srgbClr val="00B050"/>
                </a:solidFill>
              </a:rPr>
              <a:t>WHERE</a:t>
            </a:r>
            <a:r>
              <a:rPr lang="fr-FR" sz="1400" dirty="0"/>
              <a:t> </a:t>
            </a:r>
            <a:r>
              <a:rPr lang="fr-FR" sz="1400" b="1" dirty="0"/>
              <a:t>bien.type_local = 'Appartement'</a:t>
            </a:r>
            <a:r>
              <a:rPr lang="fr-FR" sz="1400" dirty="0"/>
              <a:t> </a:t>
            </a:r>
          </a:p>
          <a:p>
            <a:r>
              <a:rPr lang="fr-FR" sz="1200" b="1" dirty="0">
                <a:solidFill>
                  <a:srgbClr val="7030A0"/>
                </a:solidFill>
              </a:rPr>
              <a:t>-- On exclut les montants aberrants </a:t>
            </a:r>
          </a:p>
          <a:p>
            <a:r>
              <a:rPr lang="fr-FR" sz="1400" b="1" dirty="0">
                <a:solidFill>
                  <a:srgbClr val="00B050"/>
                </a:solidFill>
              </a:rPr>
              <a:t>AND</a:t>
            </a:r>
            <a:r>
              <a:rPr lang="fr-FR" sz="1400" b="1" dirty="0"/>
              <a:t> </a:t>
            </a:r>
            <a:r>
              <a:rPr lang="fr-FR" sz="1400" b="1" dirty="0">
                <a:solidFill>
                  <a:srgbClr val="C00000"/>
                </a:solidFill>
              </a:rPr>
              <a:t>(</a:t>
            </a:r>
            <a:r>
              <a:rPr lang="fr-FR" sz="1400" b="1" dirty="0">
                <a:solidFill>
                  <a:srgbClr val="7030A0"/>
                </a:solidFill>
              </a:rPr>
              <a:t>vente.valeur_mutation </a:t>
            </a:r>
            <a:r>
              <a:rPr lang="fr-FR" sz="1400" b="1" dirty="0">
                <a:solidFill>
                  <a:srgbClr val="C00000"/>
                </a:solidFill>
              </a:rPr>
              <a:t>/ bien.surface_carrez) </a:t>
            </a:r>
            <a:r>
              <a:rPr lang="fr-FR" sz="1400" b="1" dirty="0">
                <a:solidFill>
                  <a:srgbClr val="0070C0"/>
                </a:solidFill>
              </a:rPr>
              <a:t>&lt; 40000  </a:t>
            </a:r>
          </a:p>
          <a:p>
            <a:r>
              <a:rPr lang="fr-FR" sz="1400" b="1" dirty="0">
                <a:solidFill>
                  <a:srgbClr val="00B050"/>
                </a:solidFill>
              </a:rPr>
              <a:t>ORDER BY </a:t>
            </a:r>
            <a:r>
              <a:rPr lang="fr-FR" sz="1400" dirty="0"/>
              <a:t>vente.valeur_mutation </a:t>
            </a:r>
            <a:r>
              <a:rPr lang="fr-FR" sz="1400" b="1" dirty="0">
                <a:solidFill>
                  <a:srgbClr val="00B050"/>
                </a:solidFill>
              </a:rPr>
              <a:t>DESC </a:t>
            </a:r>
          </a:p>
          <a:p>
            <a:r>
              <a:rPr lang="fr-FR" sz="1400" b="1" dirty="0">
                <a:solidFill>
                  <a:srgbClr val="00B050"/>
                </a:solidFill>
              </a:rPr>
              <a:t>LIMIT </a:t>
            </a:r>
            <a:r>
              <a:rPr lang="fr-FR" sz="1400" b="1" dirty="0"/>
              <a:t>10;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540155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B59491-68A4-ED8F-652F-0226AFBE7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213" y="491613"/>
            <a:ext cx="11513574" cy="1199382"/>
          </a:xfrm>
        </p:spPr>
        <p:txBody>
          <a:bodyPr>
            <a:normAutofit/>
          </a:bodyPr>
          <a:lstStyle/>
          <a:p>
            <a:pPr algn="l"/>
            <a:r>
              <a:rPr lang="fr-FR" sz="3900" b="1" dirty="0">
                <a:solidFill>
                  <a:srgbClr val="0070C0"/>
                </a:solidFill>
              </a:rPr>
              <a:t>R7</a:t>
            </a:r>
            <a:r>
              <a:rPr lang="fr-FR" sz="3900" b="1" dirty="0"/>
              <a:t>- Taux d'évolution du nombre de ventes entre le premier et le second trimestre de 2020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A2E35CF-1B40-77F9-05AE-E4F7BD59D344}"/>
              </a:ext>
            </a:extLst>
          </p:cNvPr>
          <p:cNvSpPr txBox="1"/>
          <p:nvPr/>
        </p:nvSpPr>
        <p:spPr>
          <a:xfrm>
            <a:off x="201562" y="1859211"/>
            <a:ext cx="7251290" cy="4493538"/>
          </a:xfrm>
          <a:prstGeom prst="rect">
            <a:avLst/>
          </a:prstGeom>
          <a:noFill/>
          <a:ln w="12700">
            <a:solidFill>
              <a:schemeClr val="accent1">
                <a:shade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3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-- 7)Taux d'évolution du nombre de ventes entre le premier et le second trimestre de 2020.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WITH 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	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449580">
              <a:buNone/>
            </a:pPr>
            <a:r>
              <a:rPr lang="en-US" sz="13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venteT1 </a:t>
            </a:r>
            <a:r>
              <a:rPr lang="en-US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AS (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	SELECT </a:t>
            </a:r>
            <a:r>
              <a:rPr lang="en-US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COUNT(*) </a:t>
            </a:r>
            <a:r>
              <a:rPr lang="en-US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AS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NB_vente_T1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	FROM vente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	WHERE </a:t>
            </a:r>
            <a:r>
              <a:rPr lang="en-US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vente.date_mutation 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BETWEEN </a:t>
            </a:r>
            <a:r>
              <a:rPr lang="en-US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'2020-01-01' AND '2020-03-31'</a:t>
            </a:r>
            <a:endParaRPr lang="fr-FR" sz="13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),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    venteT2 </a:t>
            </a:r>
            <a:r>
              <a:rPr lang="en-US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AS 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	SELECT </a:t>
            </a:r>
            <a:r>
              <a:rPr lang="en-US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COUNT(*) </a:t>
            </a:r>
            <a:r>
              <a:rPr lang="en-US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AS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NB_vente_T2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	FROM vente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	WHERE </a:t>
            </a:r>
            <a:r>
              <a:rPr lang="en-US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vente.date_mutation 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BETWEEN </a:t>
            </a:r>
            <a:r>
              <a:rPr lang="en-US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'2020-04-01' AND '2020-06-30’</a:t>
            </a:r>
            <a:endParaRPr lang="fr-FR" sz="13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SELECT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venteT1.NB_vente_T1 </a:t>
            </a:r>
            <a:r>
              <a:rPr lang="fr-FR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AS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" Ventes T1",</a:t>
            </a:r>
          </a:p>
          <a:p>
            <a:pPr>
              <a:buNone/>
            </a:pPr>
            <a:r>
              <a:rPr lang="fr-FR" sz="13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venteT2.NB_vente_T2 </a:t>
            </a:r>
            <a:r>
              <a:rPr lang="fr-FR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AS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 Ventes T2« </a:t>
            </a:r>
          </a:p>
          <a:p>
            <a:pPr>
              <a:buNone/>
            </a:pPr>
            <a:r>
              <a:rPr lang="fr-FR" sz="13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ROUND</a:t>
            </a:r>
            <a:r>
              <a:rPr lang="fr-FR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((venteT2.NB_vente_T2  - venteT1.NB_vente_T1) * 100.0 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    </a:t>
            </a:r>
            <a:r>
              <a:rPr lang="fr-FR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venteT1.NB_vente_T1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2)     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</a:t>
            </a:r>
            <a:r>
              <a:rPr lang="fr-FR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AS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"Evolution(%)"</a:t>
            </a:r>
          </a:p>
          <a:p>
            <a:pPr indent="449580"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FROM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venteT1,venteT2;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5D0DFF6D-A950-71BF-A9AB-E6E556D4C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307862"/>
              </p:ext>
            </p:extLst>
          </p:nvPr>
        </p:nvGraphicFramePr>
        <p:xfrm>
          <a:off x="7924800" y="3242034"/>
          <a:ext cx="3539613" cy="946355"/>
        </p:xfrm>
        <a:graphic>
          <a:graphicData uri="http://schemas.openxmlformats.org/drawingml/2006/table">
            <a:tbl>
              <a:tblPr firstRow="1" firstCol="1" bandRow="1">
                <a:tableStyleId>{17292A2E-F333-43FB-9621-5CBBE7FDCDCB}</a:tableStyleId>
              </a:tblPr>
              <a:tblGrid>
                <a:gridCol w="1179871">
                  <a:extLst>
                    <a:ext uri="{9D8B030D-6E8A-4147-A177-3AD203B41FA5}">
                      <a16:colId xmlns:a16="http://schemas.microsoft.com/office/drawing/2014/main" val="2270885032"/>
                    </a:ext>
                  </a:extLst>
                </a:gridCol>
                <a:gridCol w="1179871">
                  <a:extLst>
                    <a:ext uri="{9D8B030D-6E8A-4147-A177-3AD203B41FA5}">
                      <a16:colId xmlns:a16="http://schemas.microsoft.com/office/drawing/2014/main" val="3593695689"/>
                    </a:ext>
                  </a:extLst>
                </a:gridCol>
                <a:gridCol w="1179871">
                  <a:extLst>
                    <a:ext uri="{9D8B030D-6E8A-4147-A177-3AD203B41FA5}">
                      <a16:colId xmlns:a16="http://schemas.microsoft.com/office/drawing/2014/main" val="2207467431"/>
                    </a:ext>
                  </a:extLst>
                </a:gridCol>
              </a:tblGrid>
              <a:tr h="4237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effectLst/>
                        </a:rPr>
                        <a:t>Ventes T1</a:t>
                      </a:r>
                      <a:endParaRPr lang="fr-FR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effectLst/>
                        </a:rPr>
                        <a:t> Ventes T2</a:t>
                      </a:r>
                      <a:endParaRPr lang="fr-FR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0" dirty="0">
                          <a:effectLst/>
                        </a:rPr>
                        <a:t>Evolution(%)</a:t>
                      </a:r>
                      <a:endParaRPr lang="fr-FR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531536"/>
                  </a:ext>
                </a:extLst>
              </a:tr>
              <a:tr h="5226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b="1" kern="0" dirty="0">
                          <a:effectLst/>
                        </a:rPr>
                        <a:t>16 776</a:t>
                      </a:r>
                      <a:endParaRPr lang="fr-FR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b="1" kern="0" dirty="0">
                          <a:effectLst/>
                        </a:rPr>
                        <a:t>17 393</a:t>
                      </a:r>
                      <a:endParaRPr lang="fr-FR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b="1" kern="0" dirty="0">
                          <a:effectLst/>
                        </a:rPr>
                        <a:t>3,68</a:t>
                      </a:r>
                      <a:endParaRPr lang="fr-FR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8844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023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3DC6E-CB39-64F2-1E62-4A9144890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68AC21-819F-B364-CBC9-7040D13FD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310" y="344129"/>
            <a:ext cx="11582400" cy="1170039"/>
          </a:xfrm>
        </p:spPr>
        <p:txBody>
          <a:bodyPr>
            <a:normAutofit/>
          </a:bodyPr>
          <a:lstStyle/>
          <a:p>
            <a:pPr algn="l"/>
            <a:r>
              <a:rPr lang="fr-FR" sz="3500" b="1" dirty="0">
                <a:solidFill>
                  <a:srgbClr val="0070C0"/>
                </a:solidFill>
              </a:rPr>
              <a:t>R8</a:t>
            </a:r>
            <a:r>
              <a:rPr lang="fr-FR" sz="3500" b="1" dirty="0"/>
              <a:t>- Le classement des régions par rapport au prix au mètre carré des appartements de plus de 4 pièces</a:t>
            </a:r>
            <a:endParaRPr lang="fr-FR" sz="35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048734C-14A5-5F76-815D-B86369A95542}"/>
              </a:ext>
            </a:extLst>
          </p:cNvPr>
          <p:cNvSpPr txBox="1"/>
          <p:nvPr/>
        </p:nvSpPr>
        <p:spPr>
          <a:xfrm>
            <a:off x="393290" y="2129063"/>
            <a:ext cx="5889523" cy="3893374"/>
          </a:xfrm>
          <a:prstGeom prst="rect">
            <a:avLst/>
          </a:prstGeom>
          <a:noFill/>
          <a:ln w="12700">
            <a:solidFill>
              <a:schemeClr val="accent1">
                <a:shade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3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-- 8)Le classement des régions par rapport au prix au mètre carré des appartements de plus de 4 pièces.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SELECT</a:t>
            </a:r>
            <a:endParaRPr lang="fr-FR" sz="1300" kern="100" dirty="0">
              <a:solidFill>
                <a:srgbClr val="00B05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reg_nom </a:t>
            </a:r>
            <a:r>
              <a:rPr lang="fr-FR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AS</a:t>
            </a:r>
            <a:r>
              <a:rPr lang="fr-FR" sz="13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" Nom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région",</a:t>
            </a:r>
          </a:p>
          <a:p>
            <a:pPr>
              <a:buNone/>
            </a:pPr>
            <a:r>
              <a:rPr lang="fr-FR" sz="13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</a:t>
            </a:r>
            <a:r>
              <a:rPr lang="fr-FR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COUNT(vente.id_vente) </a:t>
            </a:r>
            <a:r>
              <a:rPr lang="fr-FR" sz="1300" b="1" kern="100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AS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"Nbr ventes",</a:t>
            </a:r>
          </a:p>
          <a:p>
            <a:pPr>
              <a:buNone/>
            </a:pPr>
            <a:r>
              <a:rPr lang="fr-FR" sz="13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round((</a:t>
            </a:r>
            <a:r>
              <a:rPr lang="fr-FR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sum(vente.valeur_mutation)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 </a:t>
            </a:r>
            <a:r>
              <a:rPr lang="fr-FR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sum(bien.surface_</a:t>
            </a:r>
            <a:r>
              <a:rPr lang="fr-FR" sz="1300" b="1" kern="100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carrez</a:t>
            </a:r>
            <a:r>
              <a:rPr lang="fr-FR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)),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2) </a:t>
            </a:r>
            <a:r>
              <a:rPr lang="fr-FR" sz="1300" b="1" kern="100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AS </a:t>
            </a:r>
            <a:r>
              <a:rPr lang="fr-FR" sz="1300" b="1" kern="100" dirty="0">
                <a:latin typeface="Aptos" panose="020B0004020202020204" pitchFamily="34" charset="0"/>
                <a:cs typeface="Arial" panose="020B0604020202020204" pitchFamily="34" charset="0"/>
              </a:rPr>
              <a:t>"prix m²(F5 et +) "</a:t>
            </a:r>
          </a:p>
          <a:p>
            <a:pPr>
              <a:buNone/>
            </a:pPr>
            <a:endParaRPr lang="fr-FR" sz="1300" b="1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FROM</a:t>
            </a:r>
            <a:r>
              <a:rPr lang="fr-FR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region 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JOIN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departement </a:t>
            </a:r>
            <a:r>
              <a:rPr lang="fr-FR" sz="1300" b="1" kern="100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ON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departement.reg_code = region.reg_code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JOIN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commune </a:t>
            </a:r>
            <a:r>
              <a:rPr lang="fr-FR" sz="1300" b="1" kern="100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ON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commune.dep_code = departement.dep_code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JOIN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bien </a:t>
            </a:r>
            <a:r>
              <a:rPr lang="fr-FR" sz="1300" b="1" kern="100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ON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bien.code_dep_com = commune.code_dep_com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JOIN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vente </a:t>
            </a:r>
            <a:r>
              <a:rPr lang="fr-FR" sz="1300" b="1" kern="100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ON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vente.id_bien = bien.id_bien</a:t>
            </a: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en-US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WHERE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bien.type_local = 'Appartement' </a:t>
            </a:r>
            <a:r>
              <a:rPr lang="en-US" sz="1300" b="1" kern="100" dirty="0">
                <a:solidFill>
                  <a:srgbClr val="0070C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AND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bien.total_piece &gt; 4</a:t>
            </a:r>
            <a:r>
              <a:rPr lang="en-US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fr-FR" sz="13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Group BY </a:t>
            </a:r>
            <a:r>
              <a:rPr lang="en-US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region.reg_nom 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ORDER BY 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</a:t>
            </a:r>
            <a:r>
              <a:rPr lang="en-US" sz="13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Nbr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ventes" </a:t>
            </a:r>
            <a:r>
              <a:rPr lang="en-US" sz="13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DESC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buNone/>
            </a:pP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2336F936-921E-4C23-A0A0-0BDCE02C5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321971"/>
              </p:ext>
            </p:extLst>
          </p:nvPr>
        </p:nvGraphicFramePr>
        <p:xfrm>
          <a:off x="6605701" y="1826479"/>
          <a:ext cx="5055358" cy="4498542"/>
        </p:xfrm>
        <a:graphic>
          <a:graphicData uri="http://schemas.openxmlformats.org/drawingml/2006/table">
            <a:tbl>
              <a:tblPr firstRow="1" firstCol="1" bandRow="1">
                <a:tableStyleId>{1E171933-4619-4E11-9A3F-F7608DF75F80}</a:tableStyleId>
              </a:tblPr>
              <a:tblGrid>
                <a:gridCol w="2004642">
                  <a:extLst>
                    <a:ext uri="{9D8B030D-6E8A-4147-A177-3AD203B41FA5}">
                      <a16:colId xmlns:a16="http://schemas.microsoft.com/office/drawing/2014/main" val="2854233042"/>
                    </a:ext>
                  </a:extLst>
                </a:gridCol>
                <a:gridCol w="1048746">
                  <a:extLst>
                    <a:ext uri="{9D8B030D-6E8A-4147-A177-3AD203B41FA5}">
                      <a16:colId xmlns:a16="http://schemas.microsoft.com/office/drawing/2014/main" val="1347673124"/>
                    </a:ext>
                  </a:extLst>
                </a:gridCol>
                <a:gridCol w="2001970">
                  <a:extLst>
                    <a:ext uri="{9D8B030D-6E8A-4147-A177-3AD203B41FA5}">
                      <a16:colId xmlns:a16="http://schemas.microsoft.com/office/drawing/2014/main" val="2937507423"/>
                    </a:ext>
                  </a:extLst>
                </a:gridCol>
              </a:tblGrid>
              <a:tr h="4727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Nom région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Nbr ventes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prix m²(F5 et +)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3115717"/>
                  </a:ext>
                </a:extLst>
              </a:tr>
              <a:tr h="2683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Ile-de-France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685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9171,26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2349807"/>
                  </a:ext>
                </a:extLst>
              </a:tr>
              <a:tr h="2683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Auvergne-Rhône-Alpes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185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2932,00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3167001"/>
                  </a:ext>
                </a:extLst>
              </a:tr>
              <a:tr h="2683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Provence-Alpes-Côte d'Azur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117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3166,99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372758"/>
                  </a:ext>
                </a:extLst>
              </a:tr>
              <a:tr h="2683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Grand Est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76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1475,14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373882"/>
                  </a:ext>
                </a:extLst>
              </a:tr>
              <a:tr h="2683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Nouvelle-Aquitaine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68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2545,21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2595860"/>
                  </a:ext>
                </a:extLst>
              </a:tr>
              <a:tr h="2683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Pays de la Loire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54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2495,17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9065915"/>
                  </a:ext>
                </a:extLst>
              </a:tr>
              <a:tr h="2683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Occitanie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47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2182,36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7213966"/>
                  </a:ext>
                </a:extLst>
              </a:tr>
              <a:tr h="2683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Hauts-de-France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2280,41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690486"/>
                  </a:ext>
                </a:extLst>
              </a:tr>
              <a:tr h="2683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Bretagne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37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2325,81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7193979"/>
                  </a:ext>
                </a:extLst>
              </a:tr>
              <a:tr h="2683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Centre-Val de Loire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1459,09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4042224"/>
                  </a:ext>
                </a:extLst>
              </a:tr>
              <a:tr h="2683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Normandie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2119,37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4766062"/>
                  </a:ext>
                </a:extLst>
              </a:tr>
              <a:tr h="2683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Bourgogne-Franche-Comté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26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1125,27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057468"/>
                  </a:ext>
                </a:extLst>
              </a:tr>
              <a:tr h="2683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Corse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3444,73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9082540"/>
                  </a:ext>
                </a:extLst>
              </a:tr>
              <a:tr h="2683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La Réunion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3469,55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324437"/>
                  </a:ext>
                </a:extLst>
              </a:tr>
              <a:tr h="2683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Martinique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573,48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0296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746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05F74-EE3F-C8B0-100D-E737162E1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A3B85D-1838-8D12-83D4-272C638E2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2115" y="570270"/>
            <a:ext cx="11454581" cy="1150221"/>
          </a:xfrm>
        </p:spPr>
        <p:txBody>
          <a:bodyPr>
            <a:normAutofit/>
          </a:bodyPr>
          <a:lstStyle/>
          <a:p>
            <a:pPr algn="l"/>
            <a:r>
              <a:rPr lang="fr-FR" sz="3500" b="1" dirty="0">
                <a:solidFill>
                  <a:srgbClr val="0070C0"/>
                </a:solidFill>
              </a:rPr>
              <a:t>R9</a:t>
            </a:r>
            <a:r>
              <a:rPr lang="fr-FR" sz="3500" b="1" dirty="0"/>
              <a:t>- Liste des communes ayant eu au moins 50 ventes au 1er trimestre</a:t>
            </a:r>
            <a:endParaRPr lang="fr-FR" sz="35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F4BBC47-C299-CE8D-C80B-333EB792B06E}"/>
              </a:ext>
            </a:extLst>
          </p:cNvPr>
          <p:cNvSpPr txBox="1"/>
          <p:nvPr/>
        </p:nvSpPr>
        <p:spPr>
          <a:xfrm>
            <a:off x="462114" y="2146177"/>
            <a:ext cx="5781369" cy="3416320"/>
          </a:xfrm>
          <a:prstGeom prst="rect">
            <a:avLst/>
          </a:prstGeom>
          <a:noFill/>
          <a:ln w="12700">
            <a:solidFill>
              <a:schemeClr val="accent1">
                <a:shade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-- 9)Liste des communes ayant eu au moins 50 ventes au 1er trimestre</a:t>
            </a:r>
            <a:endParaRPr lang="fr-F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SELECT</a:t>
            </a:r>
            <a:r>
              <a:rPr lang="fr-FR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commune.nom_commune </a:t>
            </a:r>
            <a:r>
              <a:rPr lang="fr-FR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AS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"Communes",</a:t>
            </a:r>
          </a:p>
          <a:p>
            <a:pPr>
              <a:buNone/>
            </a:pPr>
            <a:r>
              <a:rPr lang="fr-FR" sz="1300" b="1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</a:t>
            </a:r>
            <a:r>
              <a:rPr lang="fr-FR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COUNT(*) </a:t>
            </a:r>
            <a:r>
              <a:rPr lang="fr-FR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AS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"NB ventes" 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FROM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vente 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JOIN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bien </a:t>
            </a:r>
            <a:r>
              <a:rPr lang="fr-FR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ON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bien.id_bien = vente.id_bien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JOIN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commune </a:t>
            </a:r>
            <a:r>
              <a:rPr lang="fr-FR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ON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commune.code_dep_com = bien.code_dep_com </a:t>
            </a:r>
          </a:p>
          <a:p>
            <a:pPr>
              <a:buNone/>
            </a:pPr>
            <a:r>
              <a:rPr lang="en-US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WHERE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vente.date_mutation </a:t>
            </a:r>
            <a:r>
              <a:rPr lang="en-US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BETWEEN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'2020/01/01' </a:t>
            </a:r>
            <a:r>
              <a:rPr lang="en-US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AND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'2020/03/31'</a:t>
            </a:r>
            <a:endParaRPr lang="fr-FR" sz="13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2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-- On regroupe par id_com pour ne pas regrouper les communes qui ont le même nom</a:t>
            </a:r>
            <a:endParaRPr lang="fr-F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GROUP BY 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commune.code_dep_com, commune.nom_commune 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HAVING</a:t>
            </a:r>
            <a:r>
              <a:rPr lang="en-US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COUNT(*) &gt;</a:t>
            </a:r>
            <a:r>
              <a:rPr lang="en-US" sz="1300" b="1" kern="100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</a:t>
            </a:r>
            <a:r>
              <a:rPr lang="en-US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50</a:t>
            </a:r>
            <a:r>
              <a:rPr lang="en-US" sz="13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fr-FR" sz="1300" kern="100" dirty="0">
              <a:solidFill>
                <a:srgbClr val="C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ORDER BY 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"NB ventes" </a:t>
            </a:r>
            <a:r>
              <a:rPr lang="en-US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DESC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;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CDDFFC46-794E-B4B9-A70F-C466163F5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926" y="2146177"/>
            <a:ext cx="4198372" cy="3416320"/>
          </a:xfrm>
          <a:prstGeom prst="rect">
            <a:avLst/>
          </a:prstGeom>
          <a:scene3d>
            <a:camera prst="orthographicFront"/>
            <a:lightRig rig="threePt" dir="t"/>
          </a:scene3d>
          <a:sp3d contourW="12700"/>
        </p:spPr>
      </p:pic>
    </p:spTree>
    <p:extLst>
      <p:ext uri="{BB962C8B-B14F-4D97-AF65-F5344CB8AC3E}">
        <p14:creationId xmlns:p14="http://schemas.microsoft.com/office/powerpoint/2010/main" val="3322855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DD209-FD33-A2AE-FF1C-751CEAAE8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574E16-1F4D-4EF0-D193-ECA32E2F4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316" y="235972"/>
            <a:ext cx="11602064" cy="1120725"/>
          </a:xfrm>
        </p:spPr>
        <p:txBody>
          <a:bodyPr>
            <a:normAutofit/>
          </a:bodyPr>
          <a:lstStyle/>
          <a:p>
            <a:pPr algn="l"/>
            <a:r>
              <a:rPr lang="fr-FR" sz="3500" b="1" dirty="0">
                <a:solidFill>
                  <a:srgbClr val="0070C0"/>
                </a:solidFill>
              </a:rPr>
              <a:t>R10</a:t>
            </a:r>
            <a:r>
              <a:rPr lang="fr-FR" sz="3500" b="1" dirty="0"/>
              <a:t>- Différence en pourcentage du prix au mètre carré entre un appartement de type F2 et F3</a:t>
            </a:r>
            <a:endParaRPr lang="fr-FR" sz="35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5902689-4953-7F24-58B9-C72032E82724}"/>
              </a:ext>
            </a:extLst>
          </p:cNvPr>
          <p:cNvSpPr txBox="1"/>
          <p:nvPr/>
        </p:nvSpPr>
        <p:spPr>
          <a:xfrm>
            <a:off x="349044" y="1902517"/>
            <a:ext cx="10849898" cy="335476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3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-- 10)Différence en pourcentage du prix au mètre carré entre un appartement  de 2 pièces et un appartement de 3 pièces.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SELECT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	prix_t2 </a:t>
            </a:r>
            <a:r>
              <a:rPr lang="fr-FR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AS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"Prix m²/T2",</a:t>
            </a: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	prix_t3</a:t>
            </a:r>
            <a:r>
              <a:rPr lang="fr-FR" sz="1300" b="1" kern="100" dirty="0">
                <a:solidFill>
                  <a:srgbClr val="C0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 AS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"Prix m²/T3",</a:t>
            </a: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	</a:t>
            </a:r>
            <a:r>
              <a:rPr lang="fr-FR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ROUND((prix_t2 - prix_t3) * 100.0 / prix_t3, 2) AS "Ecart %"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FROM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</a:p>
          <a:p>
            <a:pPr>
              <a:buNone/>
            </a:pPr>
            <a:endParaRPr lang="en-US" sz="1300" b="1" kern="100" dirty="0">
              <a:solidFill>
                <a:srgbClr val="00B050"/>
              </a:solidFill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SELECT</a:t>
            </a:r>
            <a:endParaRPr lang="en-US" sz="1300" b="1" kern="100" dirty="0">
              <a:solidFill>
                <a:srgbClr val="0070C0"/>
              </a:solidFill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ROUND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3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SUM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(CASE WHEN </a:t>
            </a:r>
            <a:r>
              <a:rPr lang="en-US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total_piece = 2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THEN valeur_mutation END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 / </a:t>
            </a:r>
            <a:r>
              <a:rPr lang="en-US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 SUM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(CASE WHEN </a:t>
            </a:r>
            <a:r>
              <a:rPr lang="en-US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total_piece = 2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THEN surface_carrez END), 2) </a:t>
            </a:r>
            <a:r>
              <a:rPr lang="en-US" sz="1300" b="1" kern="100" dirty="0">
                <a:solidFill>
                  <a:srgbClr val="C0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AS 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prix_t2,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ROUND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SUM(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CASE WHEN </a:t>
            </a:r>
            <a:r>
              <a:rPr lang="en-US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total_piece = 3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THEN valeur_mutation END) </a:t>
            </a:r>
            <a:r>
              <a:rPr lang="en-US" sz="1400" b="1" kern="100" dirty="0">
                <a:latin typeface="Aptos" panose="020B0004020202020204" pitchFamily="34" charset="0"/>
                <a:cs typeface="Arial" panose="020B0604020202020204" pitchFamily="34" charset="0"/>
              </a:rPr>
              <a:t>/ 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1" kern="100" dirty="0">
                <a:solidFill>
                  <a:srgbClr val="00B05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SUM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(CASE WHEN </a:t>
            </a:r>
            <a:r>
              <a:rPr lang="en-US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total_piece = 3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THEN surface_carrez END), 2) </a:t>
            </a:r>
            <a:r>
              <a:rPr lang="en-US" sz="1300" b="1" kern="100" dirty="0">
                <a:solidFill>
                  <a:srgbClr val="C0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AS 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prix_t3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FROM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vente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JOIN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bien </a:t>
            </a:r>
            <a:r>
              <a:rPr lang="fr-FR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ON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bien.id_bien = vente.id_bien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WHERE </a:t>
            </a:r>
            <a:r>
              <a:rPr lang="en-US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bien.type_local = </a:t>
            </a:r>
            <a:r>
              <a:rPr lang="fr-FR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'Appartement'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FR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AND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bien.total_piece IN (2,3)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	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	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FR" sz="1300" b="1" kern="100" dirty="0">
                <a:solidFill>
                  <a:srgbClr val="C000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AS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calcul_global; 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41E404B4-BBF2-04E3-363E-A5B8881EE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371028"/>
              </p:ext>
            </p:extLst>
          </p:nvPr>
        </p:nvGraphicFramePr>
        <p:xfrm>
          <a:off x="2989006" y="5486425"/>
          <a:ext cx="4473678" cy="639072"/>
        </p:xfrm>
        <a:graphic>
          <a:graphicData uri="http://schemas.openxmlformats.org/drawingml/2006/table">
            <a:tbl>
              <a:tblPr firstRow="1" firstCol="1" bandRow="1">
                <a:tableStyleId>{17292A2E-F333-43FB-9621-5CBBE7FDCDCB}</a:tableStyleId>
              </a:tblPr>
              <a:tblGrid>
                <a:gridCol w="1491226">
                  <a:extLst>
                    <a:ext uri="{9D8B030D-6E8A-4147-A177-3AD203B41FA5}">
                      <a16:colId xmlns:a16="http://schemas.microsoft.com/office/drawing/2014/main" val="979035503"/>
                    </a:ext>
                  </a:extLst>
                </a:gridCol>
                <a:gridCol w="1557998">
                  <a:extLst>
                    <a:ext uri="{9D8B030D-6E8A-4147-A177-3AD203B41FA5}">
                      <a16:colId xmlns:a16="http://schemas.microsoft.com/office/drawing/2014/main" val="3285036428"/>
                    </a:ext>
                  </a:extLst>
                </a:gridCol>
                <a:gridCol w="1424454">
                  <a:extLst>
                    <a:ext uri="{9D8B030D-6E8A-4147-A177-3AD203B41FA5}">
                      <a16:colId xmlns:a16="http://schemas.microsoft.com/office/drawing/2014/main" val="3722621709"/>
                    </a:ext>
                  </a:extLst>
                </a:gridCol>
              </a:tblGrid>
              <a:tr h="3195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b="1" kern="0" dirty="0">
                          <a:effectLst/>
                        </a:rPr>
                        <a:t>Prix m²/T2</a:t>
                      </a:r>
                      <a:endParaRPr lang="fr-FR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b="1" kern="0" dirty="0">
                          <a:effectLst/>
                        </a:rPr>
                        <a:t>Prix m²/T3</a:t>
                      </a:r>
                      <a:endParaRPr lang="fr-FR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b="1" kern="0" dirty="0">
                          <a:effectLst/>
                        </a:rPr>
                        <a:t>Ecart %</a:t>
                      </a:r>
                      <a:endParaRPr lang="fr-FR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659364"/>
                  </a:ext>
                </a:extLst>
              </a:tr>
              <a:tr h="319536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b="1" kern="0" dirty="0">
                          <a:effectLst/>
                        </a:rPr>
                        <a:t>4727,78</a:t>
                      </a:r>
                      <a:endParaRPr lang="fr-FR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b="1" kern="0" dirty="0">
                          <a:effectLst/>
                        </a:rPr>
                        <a:t>4135,75</a:t>
                      </a:r>
                      <a:endParaRPr lang="fr-FR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b="1" kern="0" dirty="0">
                          <a:effectLst/>
                        </a:rPr>
                        <a:t>14,31</a:t>
                      </a:r>
                      <a:endParaRPr lang="fr-FR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902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653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80803-18FF-D56D-578A-90F7E2F31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ACF00A-A3D2-337D-E5D9-FBEC575B1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308" y="393289"/>
            <a:ext cx="11602065" cy="1150221"/>
          </a:xfrm>
        </p:spPr>
        <p:txBody>
          <a:bodyPr>
            <a:normAutofit fontScale="90000"/>
          </a:bodyPr>
          <a:lstStyle/>
          <a:p>
            <a:pPr algn="l"/>
            <a:r>
              <a:rPr lang="fr-FR" sz="3900" b="1" dirty="0">
                <a:solidFill>
                  <a:srgbClr val="0070C0"/>
                </a:solidFill>
              </a:rPr>
              <a:t>R11</a:t>
            </a:r>
            <a:r>
              <a:rPr lang="fr-FR" sz="3900" b="1" dirty="0"/>
              <a:t>- Les moyennes de valeurs foncières pour le top 3 des communes des départements 6, 13, 33, 59 et 69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FB90439-885D-7368-C4D1-E30D39F1817F}"/>
              </a:ext>
            </a:extLst>
          </p:cNvPr>
          <p:cNvSpPr txBox="1"/>
          <p:nvPr/>
        </p:nvSpPr>
        <p:spPr>
          <a:xfrm>
            <a:off x="334296" y="1723706"/>
            <a:ext cx="5545394" cy="455509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-- 11)Les moyennes de valeurs foncières pour le top 3 des communes</a:t>
            </a:r>
          </a:p>
          <a:p>
            <a:pPr>
              <a:buNone/>
            </a:pPr>
            <a:r>
              <a:rPr lang="fr-FR" sz="12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-- des départements 6, 13, 33, 59 et 69</a:t>
            </a:r>
          </a:p>
          <a:p>
            <a:pPr>
              <a:buNone/>
            </a:pP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fr-FR" sz="14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WITH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4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valeur_par_ville 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AS ( </a:t>
            </a:r>
          </a:p>
          <a:p>
            <a:pPr>
              <a:buNone/>
            </a:pPr>
            <a:r>
              <a:rPr lang="fr-FR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SELECT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dep_code, nom_commune, avg(valeur_mutation) as "valeur" </a:t>
            </a:r>
          </a:p>
          <a:p>
            <a:pPr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FROM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vente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JOIN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bien USING (id_bien)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JOIN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commune USING (code_dep_com)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WHERE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commune.dep_code IN ('06', '13', '33', '59', '69')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GROUP BY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commune.dep_code, commune.nom_commune)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4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SELECT 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dep_code AS "Département",</a:t>
            </a:r>
          </a:p>
          <a:p>
            <a:pPr>
              <a:buNone/>
            </a:pPr>
            <a:r>
              <a:rPr lang="fr-FR" sz="14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nom_commune AS "Commune",</a:t>
            </a:r>
          </a:p>
          <a:p>
            <a:pPr>
              <a:buNone/>
            </a:pPr>
            <a:r>
              <a:rPr lang="fr-FR" sz="14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round("valeur",1) AS "Prix moyen"</a:t>
            </a:r>
          </a:p>
          <a:p>
            <a:pPr>
              <a:buNone/>
            </a:pPr>
            <a:r>
              <a:rPr lang="fr-FR" sz="14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FROM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</a:p>
          <a:p>
            <a:pPr>
              <a:buNone/>
            </a:pPr>
            <a:r>
              <a:rPr lang="fr-FR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SELECT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dep_code, nom_commune, "valeur",</a:t>
            </a:r>
          </a:p>
          <a:p>
            <a:pPr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rank() OVER (PARTITION BY dep_code ORDER BY valeur DESC) AS rang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FROM 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valeur_par_ville) AS result</a:t>
            </a:r>
          </a:p>
          <a:p>
            <a:pPr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WHERE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rang &lt;= 3;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BAAEFB57-20F2-669F-63DB-2A4CB7D2B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162983"/>
              </p:ext>
            </p:extLst>
          </p:nvPr>
        </p:nvGraphicFramePr>
        <p:xfrm>
          <a:off x="6292645" y="1815606"/>
          <a:ext cx="5102942" cy="4463197"/>
        </p:xfrm>
        <a:graphic>
          <a:graphicData uri="http://schemas.openxmlformats.org/drawingml/2006/table">
            <a:tbl>
              <a:tblPr firstRow="1" firstCol="1" bandRow="1">
                <a:tableStyleId>{1E171933-4619-4E11-9A3F-F7608DF75F80}</a:tableStyleId>
              </a:tblPr>
              <a:tblGrid>
                <a:gridCol w="1165178">
                  <a:extLst>
                    <a:ext uri="{9D8B030D-6E8A-4147-A177-3AD203B41FA5}">
                      <a16:colId xmlns:a16="http://schemas.microsoft.com/office/drawing/2014/main" val="2448628915"/>
                    </a:ext>
                  </a:extLst>
                </a:gridCol>
                <a:gridCol w="2240341">
                  <a:extLst>
                    <a:ext uri="{9D8B030D-6E8A-4147-A177-3AD203B41FA5}">
                      <a16:colId xmlns:a16="http://schemas.microsoft.com/office/drawing/2014/main" val="454242226"/>
                    </a:ext>
                  </a:extLst>
                </a:gridCol>
                <a:gridCol w="1697423">
                  <a:extLst>
                    <a:ext uri="{9D8B030D-6E8A-4147-A177-3AD203B41FA5}">
                      <a16:colId xmlns:a16="http://schemas.microsoft.com/office/drawing/2014/main" val="115212642"/>
                    </a:ext>
                  </a:extLst>
                </a:gridCol>
              </a:tblGrid>
              <a:tr h="4069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effectLst/>
                        </a:rPr>
                        <a:t>Département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Commune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Prix moyen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903335"/>
                  </a:ext>
                </a:extLst>
              </a:tr>
              <a:tr h="34173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06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Saint-Jean-Cap-Ferrat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968 750,00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021832"/>
                  </a:ext>
                </a:extLst>
              </a:tr>
              <a:tr h="2559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06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Eze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655 000,00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607844"/>
                  </a:ext>
                </a:extLst>
              </a:tr>
              <a:tr h="2559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06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Mouans-Sartoux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476 898,00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128190"/>
                  </a:ext>
                </a:extLst>
              </a:tr>
              <a:tr h="2559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solidFill>
                            <a:srgbClr val="0070C0"/>
                          </a:solidFill>
                          <a:effectLst/>
                        </a:rPr>
                        <a:t>13</a:t>
                      </a:r>
                      <a:endParaRPr lang="fr-FR" sz="1200" b="1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solidFill>
                            <a:srgbClr val="0070C0"/>
                          </a:solidFill>
                          <a:effectLst/>
                        </a:rPr>
                        <a:t>Gignac-la-Nerthe</a:t>
                      </a:r>
                      <a:endParaRPr lang="fr-FR" sz="1200" b="1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solidFill>
                            <a:srgbClr val="0070C0"/>
                          </a:solidFill>
                          <a:effectLst/>
                        </a:rPr>
                        <a:t>330 000,00</a:t>
                      </a:r>
                      <a:endParaRPr lang="fr-FR" sz="1200" b="1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748717"/>
                  </a:ext>
                </a:extLst>
              </a:tr>
              <a:tr h="2559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solidFill>
                            <a:srgbClr val="0070C0"/>
                          </a:solidFill>
                          <a:effectLst/>
                        </a:rPr>
                        <a:t>13</a:t>
                      </a:r>
                      <a:endParaRPr lang="fr-FR" sz="1200" b="1" kern="10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solidFill>
                            <a:srgbClr val="0070C0"/>
                          </a:solidFill>
                          <a:effectLst/>
                        </a:rPr>
                        <a:t>Saint-Savournin</a:t>
                      </a:r>
                      <a:endParaRPr lang="fr-FR" sz="1200" b="1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solidFill>
                            <a:srgbClr val="0070C0"/>
                          </a:solidFill>
                          <a:effectLst/>
                        </a:rPr>
                        <a:t>314 425,00</a:t>
                      </a:r>
                      <a:endParaRPr lang="fr-FR" sz="1200" b="1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758352"/>
                  </a:ext>
                </a:extLst>
              </a:tr>
              <a:tr h="2559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solidFill>
                            <a:srgbClr val="0070C0"/>
                          </a:solidFill>
                          <a:effectLst/>
                        </a:rPr>
                        <a:t>13</a:t>
                      </a:r>
                      <a:endParaRPr lang="fr-FR" sz="1200" b="1" kern="10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solidFill>
                            <a:srgbClr val="0070C0"/>
                          </a:solidFill>
                          <a:effectLst/>
                        </a:rPr>
                        <a:t>Cassis</a:t>
                      </a:r>
                      <a:endParaRPr lang="fr-FR" sz="1200" b="1" kern="10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solidFill>
                            <a:srgbClr val="0070C0"/>
                          </a:solidFill>
                          <a:effectLst/>
                        </a:rPr>
                        <a:t>313 416,90</a:t>
                      </a:r>
                      <a:endParaRPr lang="fr-FR" sz="1200" b="1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909725"/>
                  </a:ext>
                </a:extLst>
              </a:tr>
              <a:tr h="2559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33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Lège-Cap-Ferret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549 500,60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727042"/>
                  </a:ext>
                </a:extLst>
              </a:tr>
              <a:tr h="2559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33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Vayres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335 000,00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622264"/>
                  </a:ext>
                </a:extLst>
              </a:tr>
              <a:tr h="2559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33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Arcachon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307 435,90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0959395"/>
                  </a:ext>
                </a:extLst>
              </a:tr>
              <a:tr h="2559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solidFill>
                            <a:srgbClr val="0070C0"/>
                          </a:solidFill>
                          <a:effectLst/>
                        </a:rPr>
                        <a:t>59</a:t>
                      </a:r>
                      <a:endParaRPr lang="fr-FR" sz="1200" b="1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solidFill>
                            <a:srgbClr val="0070C0"/>
                          </a:solidFill>
                          <a:effectLst/>
                        </a:rPr>
                        <a:t>Bersée</a:t>
                      </a:r>
                      <a:endParaRPr lang="fr-FR" sz="1200" b="1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solidFill>
                            <a:srgbClr val="0070C0"/>
                          </a:solidFill>
                          <a:effectLst/>
                        </a:rPr>
                        <a:t>433 202,00</a:t>
                      </a:r>
                      <a:endParaRPr lang="fr-FR" sz="1200" b="1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118159"/>
                  </a:ext>
                </a:extLst>
              </a:tr>
              <a:tr h="2559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solidFill>
                            <a:srgbClr val="0070C0"/>
                          </a:solidFill>
                          <a:effectLst/>
                        </a:rPr>
                        <a:t>59</a:t>
                      </a:r>
                      <a:endParaRPr lang="fr-FR" sz="1200" b="1" kern="10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solidFill>
                            <a:srgbClr val="0070C0"/>
                          </a:solidFill>
                          <a:effectLst/>
                        </a:rPr>
                        <a:t>Cysoing</a:t>
                      </a:r>
                      <a:endParaRPr lang="fr-FR" sz="1200" b="1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solidFill>
                            <a:srgbClr val="0070C0"/>
                          </a:solidFill>
                          <a:effectLst/>
                        </a:rPr>
                        <a:t>408 550,00</a:t>
                      </a:r>
                      <a:endParaRPr lang="fr-FR" sz="1200" b="1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269358"/>
                  </a:ext>
                </a:extLst>
              </a:tr>
              <a:tr h="2559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solidFill>
                            <a:srgbClr val="0070C0"/>
                          </a:solidFill>
                          <a:effectLst/>
                        </a:rPr>
                        <a:t>59</a:t>
                      </a:r>
                      <a:endParaRPr lang="fr-FR" sz="1200" b="1" kern="10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solidFill>
                            <a:srgbClr val="0070C0"/>
                          </a:solidFill>
                          <a:effectLst/>
                        </a:rPr>
                        <a:t>Halluin</a:t>
                      </a:r>
                      <a:endParaRPr lang="fr-FR" sz="1200" b="1" kern="10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solidFill>
                            <a:srgbClr val="0070C0"/>
                          </a:solidFill>
                          <a:effectLst/>
                        </a:rPr>
                        <a:t>322 250,00</a:t>
                      </a:r>
                      <a:endParaRPr lang="fr-FR" sz="1200" b="1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7393359"/>
                  </a:ext>
                </a:extLst>
              </a:tr>
              <a:tr h="2559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69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Ville-sur-Jarnioux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485 300,00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464604"/>
                  </a:ext>
                </a:extLst>
              </a:tr>
              <a:tr h="3239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69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Lyon 2e Arrondissement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>
                          <a:effectLst/>
                        </a:rPr>
                        <a:t>455 217,30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304338"/>
                  </a:ext>
                </a:extLst>
              </a:tr>
              <a:tr h="3196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effectLst/>
                        </a:rPr>
                        <a:t>69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effectLst/>
                        </a:rPr>
                        <a:t>Lyon 6e Arrondissement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b="1" kern="0" dirty="0">
                          <a:effectLst/>
                        </a:rPr>
                        <a:t>426 968,30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041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205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7840D-9B15-2530-441B-D6111648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5D6BDE-20B9-5A0D-C9D9-D858D8929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792" y="344130"/>
            <a:ext cx="10962969" cy="1504335"/>
          </a:xfrm>
        </p:spPr>
        <p:txBody>
          <a:bodyPr>
            <a:normAutofit fontScale="90000"/>
          </a:bodyPr>
          <a:lstStyle/>
          <a:p>
            <a:pPr algn="l"/>
            <a:r>
              <a:rPr lang="fr-FR" sz="3500" b="1" dirty="0">
                <a:solidFill>
                  <a:srgbClr val="0070C0"/>
                </a:solidFill>
              </a:rPr>
              <a:t>R12</a:t>
            </a:r>
            <a:r>
              <a:rPr lang="fr-FR" sz="3500" b="1" dirty="0"/>
              <a:t>-  Les 20 communes avec le plus de transactions pour 1000 habitants pour les communes qui dépassent les 10 000 habitants</a:t>
            </a:r>
            <a:endParaRPr lang="fr-FR" sz="35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C0D1604-3EAF-89D2-1FF1-6BF5EFDE3190}"/>
              </a:ext>
            </a:extLst>
          </p:cNvPr>
          <p:cNvSpPr txBox="1"/>
          <p:nvPr/>
        </p:nvSpPr>
        <p:spPr>
          <a:xfrm>
            <a:off x="172224" y="2094272"/>
            <a:ext cx="5717299" cy="466281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-- 12)Les 20 communes avec le plus de transactions</a:t>
            </a:r>
            <a:endParaRPr lang="fr-F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2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-- pour 1000 habitants pour les communes qui dépassent 10 000 habitants</a:t>
            </a:r>
            <a:endParaRPr lang="fr-F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1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fr-FR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SELECT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code_postal,</a:t>
            </a: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nom_commune AS "nom commune",</a:t>
            </a: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pop_totale AS "Population",</a:t>
            </a: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fr-FR" sz="12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-- On arrondit la surface moyenne uniquement pour les lignes qui ont une surface</a:t>
            </a:r>
            <a:endParaRPr lang="fr-FR" sz="1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</a:t>
            </a:r>
            <a:r>
              <a:rPr lang="fr-FR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ROUND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fr-FR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AVG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(NULLIF(surface_carrez, 0)), 0) AS "Surface Carrez moyenne",</a:t>
            </a: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</a:t>
            </a:r>
            <a:r>
              <a:rPr lang="fr-FR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ROUND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fr-FR" sz="13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AVG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(valeur_mutation), 0) AS "Valeur foncière moyenne",</a:t>
            </a: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fr-F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</a:t>
            </a:r>
            <a:r>
              <a:rPr lang="fr-FR" sz="1200" b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-- Ratio basé sur TOUTES les transactions de la table bien pour ces communes</a:t>
            </a:r>
            <a:endParaRPr lang="fr-FR" sz="1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ROUND((COUNT(id_bien) * 1000.0) / pop_totale, 2) AS "Nombre d'achat pour mille habitants"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FROM 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vente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3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JOIN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bien USING (id_bien)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JOIN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commune USING (code_dep_com)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WHERE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pop_totale &gt; 10000</a:t>
            </a:r>
            <a:endParaRPr lang="fr-FR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GROUP BY</a:t>
            </a:r>
            <a:r>
              <a:rPr lang="fr-FR" sz="1300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nom_commune, code_postal, pop_totale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ORDER BY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"Nombre d'achat pour mille habitants" DESC</a:t>
            </a:r>
          </a:p>
          <a:p>
            <a:pPr>
              <a:buNone/>
            </a:pPr>
            <a:r>
              <a:rPr lang="fr-FR" sz="1300" b="1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LIMIT</a:t>
            </a:r>
            <a:r>
              <a:rPr lang="fr-FR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20;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DED04941-3A67-8AA8-A410-AA6FA3723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837722"/>
              </p:ext>
            </p:extLst>
          </p:nvPr>
        </p:nvGraphicFramePr>
        <p:xfrm>
          <a:off x="6096000" y="2132384"/>
          <a:ext cx="5574888" cy="45865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9048">
                  <a:extLst>
                    <a:ext uri="{9D8B030D-6E8A-4147-A177-3AD203B41FA5}">
                      <a16:colId xmlns:a16="http://schemas.microsoft.com/office/drawing/2014/main" val="2347518583"/>
                    </a:ext>
                  </a:extLst>
                </a:gridCol>
                <a:gridCol w="1765144">
                  <a:extLst>
                    <a:ext uri="{9D8B030D-6E8A-4147-A177-3AD203B41FA5}">
                      <a16:colId xmlns:a16="http://schemas.microsoft.com/office/drawing/2014/main" val="3107456885"/>
                    </a:ext>
                  </a:extLst>
                </a:gridCol>
                <a:gridCol w="933139">
                  <a:extLst>
                    <a:ext uri="{9D8B030D-6E8A-4147-A177-3AD203B41FA5}">
                      <a16:colId xmlns:a16="http://schemas.microsoft.com/office/drawing/2014/main" val="2760590120"/>
                    </a:ext>
                  </a:extLst>
                </a:gridCol>
                <a:gridCol w="609767">
                  <a:extLst>
                    <a:ext uri="{9D8B030D-6E8A-4147-A177-3AD203B41FA5}">
                      <a16:colId xmlns:a16="http://schemas.microsoft.com/office/drawing/2014/main" val="232452503"/>
                    </a:ext>
                  </a:extLst>
                </a:gridCol>
                <a:gridCol w="863895">
                  <a:extLst>
                    <a:ext uri="{9D8B030D-6E8A-4147-A177-3AD203B41FA5}">
                      <a16:colId xmlns:a16="http://schemas.microsoft.com/office/drawing/2014/main" val="2840129169"/>
                    </a:ext>
                  </a:extLst>
                </a:gridCol>
                <a:gridCol w="863895">
                  <a:extLst>
                    <a:ext uri="{9D8B030D-6E8A-4147-A177-3AD203B41FA5}">
                      <a16:colId xmlns:a16="http://schemas.microsoft.com/office/drawing/2014/main" val="1165971645"/>
                    </a:ext>
                  </a:extLst>
                </a:gridCol>
              </a:tblGrid>
              <a:tr h="8160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Code postal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 dirty="0">
                          <a:effectLst/>
                        </a:rPr>
                        <a:t>Nom commune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Population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Surface Carrez moyenne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Valeur foncière moyenne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Nombre d'achat pour mille habitants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1364984553"/>
                  </a:ext>
                </a:extLst>
              </a:tr>
              <a:tr h="1812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75002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Paris 2e Arrondissement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21 735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42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521 065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 dirty="0">
                          <a:effectLst/>
                        </a:rPr>
                        <a:t>5,84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687793380"/>
                  </a:ext>
                </a:extLst>
              </a:tr>
              <a:tr h="1812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75001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Paris 1er Arrondissement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16 055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54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1 000 675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 dirty="0">
                          <a:effectLst/>
                        </a:rPr>
                        <a:t>4,92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2138375478"/>
                  </a:ext>
                </a:extLst>
              </a:tr>
              <a:tr h="2885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75003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Paris 3e Arrondissement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34 306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49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655 954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 dirty="0">
                          <a:effectLst/>
                        </a:rPr>
                        <a:t>4,69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1295460351"/>
                  </a:ext>
                </a:extLst>
              </a:tr>
              <a:tr h="1812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33120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Arcachon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11 898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50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307 436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 dirty="0">
                          <a:effectLst/>
                        </a:rPr>
                        <a:t>4,62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3277538319"/>
                  </a:ext>
                </a:extLst>
              </a:tr>
              <a:tr h="1812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44500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La Baule-Escoublac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16 797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50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264 745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 dirty="0">
                          <a:effectLst/>
                        </a:rPr>
                        <a:t>4,58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1426326128"/>
                  </a:ext>
                </a:extLst>
              </a:tr>
              <a:tr h="1812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75004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Paris 4e Arrondissement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29 390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48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645 485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 dirty="0">
                          <a:effectLst/>
                        </a:rPr>
                        <a:t>4,08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668454541"/>
                  </a:ext>
                </a:extLst>
              </a:tr>
              <a:tr h="1812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06190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Roquebrune-Cap-Martin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13 041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47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274 173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>
                          <a:effectLst/>
                        </a:rPr>
                        <a:t>3,99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2263902312"/>
                  </a:ext>
                </a:extLst>
              </a:tr>
              <a:tr h="1812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75008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Paris 8e Arrondissement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36 250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75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1 010 536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 dirty="0">
                          <a:effectLst/>
                        </a:rPr>
                        <a:t>3,83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2064609742"/>
                  </a:ext>
                </a:extLst>
              </a:tr>
              <a:tr h="1812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83110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Sanary-sur-Mer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17 160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48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268 489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 dirty="0">
                          <a:effectLst/>
                        </a:rPr>
                        <a:t>3,5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2811712185"/>
                  </a:ext>
                </a:extLst>
              </a:tr>
              <a:tr h="1812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75009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Paris 9e Arrondissement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60 563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50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583 177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 dirty="0">
                          <a:effectLst/>
                        </a:rPr>
                        <a:t>3,43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3152203104"/>
                  </a:ext>
                </a:extLst>
              </a:tr>
              <a:tr h="1812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83250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La Londe-les-Maures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10 776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37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151 213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 dirty="0">
                          <a:effectLst/>
                        </a:rPr>
                        <a:t>3,43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780458964"/>
                  </a:ext>
                </a:extLst>
              </a:tr>
              <a:tr h="1812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75006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Paris 6e Arrondissement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41 171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59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1 005 956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 dirty="0">
                          <a:effectLst/>
                        </a:rPr>
                        <a:t>3,38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521054106"/>
                  </a:ext>
                </a:extLst>
              </a:tr>
              <a:tr h="1812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83270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Saint-Cyr-sur-Mer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11 725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53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256 894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 dirty="0">
                          <a:effectLst/>
                        </a:rPr>
                        <a:t>3,24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861863495"/>
                  </a:ext>
                </a:extLst>
              </a:tr>
              <a:tr h="1812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60500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Chantilly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11 178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61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238 481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 dirty="0">
                          <a:effectLst/>
                        </a:rPr>
                        <a:t>3,13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2090621469"/>
                  </a:ext>
                </a:extLst>
              </a:tr>
              <a:tr h="1812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44380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Pornichet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11 440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44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204 127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 dirty="0">
                          <a:effectLst/>
                        </a:rPr>
                        <a:t>3,06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3646457391"/>
                  </a:ext>
                </a:extLst>
              </a:tr>
              <a:tr h="1812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94160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Saint-Mandé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22 576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55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494 061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>
                          <a:effectLst/>
                        </a:rPr>
                        <a:t>3,06</a:t>
                      </a:r>
                      <a:endParaRPr lang="fr-FR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1181263340"/>
                  </a:ext>
                </a:extLst>
              </a:tr>
              <a:tr h="1812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75010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Paris 10e Arrondissement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86 863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49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532 282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 dirty="0">
                          <a:effectLst/>
                        </a:rPr>
                        <a:t>3,04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82160798"/>
                  </a:ext>
                </a:extLst>
              </a:tr>
              <a:tr h="1812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06500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Menton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30 981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45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208 585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 dirty="0">
                          <a:effectLst/>
                        </a:rPr>
                        <a:t>2,94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1480683620"/>
                  </a:ext>
                </a:extLst>
              </a:tr>
              <a:tr h="1812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85270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Saint-Hilaire-de-Riez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11 501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36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85 265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 dirty="0">
                          <a:effectLst/>
                        </a:rPr>
                        <a:t>2,87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3291362946"/>
                  </a:ext>
                </a:extLst>
              </a:tr>
              <a:tr h="1812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94300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Vincennes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              50 230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50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0">
                          <a:effectLst/>
                        </a:rPr>
                        <a:t>433 108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b="1" kern="0" dirty="0">
                          <a:effectLst/>
                        </a:rPr>
                        <a:t>2,81</a:t>
                      </a:r>
                      <a:endParaRPr lang="fr-FR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92" marR="43692" marT="0" marB="0" anchor="ctr"/>
                </a:tc>
                <a:extLst>
                  <a:ext uri="{0D108BD9-81ED-4DB2-BD59-A6C34878D82A}">
                    <a16:rowId xmlns:a16="http://schemas.microsoft.com/office/drawing/2014/main" val="6742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597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78F9A3-F04D-923D-EBCA-A42430D87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6471" y="2449564"/>
            <a:ext cx="2996381" cy="1325563"/>
          </a:xfrm>
        </p:spPr>
        <p:txBody>
          <a:bodyPr/>
          <a:lstStyle/>
          <a:p>
            <a:r>
              <a:rPr lang="fr" dirty="0"/>
              <a:t>Merci !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8017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3561</Words>
  <Application>Microsoft Office PowerPoint</Application>
  <PresentationFormat>Grand écran</PresentationFormat>
  <Paragraphs>831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Aptos Narrow</vt:lpstr>
      <vt:lpstr>Arial</vt:lpstr>
      <vt:lpstr>Calibri</vt:lpstr>
      <vt:lpstr>Wingdings</vt:lpstr>
      <vt:lpstr>Thème Office</vt:lpstr>
      <vt:lpstr>Conception d’une base de données immobilières </vt:lpstr>
      <vt:lpstr>Contexte du projet</vt:lpstr>
      <vt:lpstr>Les données initiales &amp; la conformité RGPD</vt:lpstr>
      <vt:lpstr>L’extrait du dictionnaire des données</vt:lpstr>
      <vt:lpstr>Présentation PowerPoint</vt:lpstr>
      <vt:lpstr>Le schéma relationnel normalisé</vt:lpstr>
      <vt:lpstr>La base de données avec les tables créées et les données chargées</vt:lpstr>
      <vt:lpstr>Code SQL </vt:lpstr>
      <vt:lpstr>Code SQL (suite)</vt:lpstr>
      <vt:lpstr>Les requêtes permettant de démontrer le bon chargement des données</vt:lpstr>
      <vt:lpstr>Requêtes SQL et résultats</vt:lpstr>
      <vt:lpstr>R1- Nombre total d'appartements vendus au 1er semestre 2020</vt:lpstr>
      <vt:lpstr>R2- Le nombre de ventes d'appartement par région pour le 1er semestre 2020</vt:lpstr>
      <vt:lpstr>R3- Proportion des ventes d'appartements par le nombre de pièces</vt:lpstr>
      <vt:lpstr>R4- Liste des 10 départements où le prix du mètre carré est le plus élevé</vt:lpstr>
      <vt:lpstr>R5- Prix moyen du mètre carré d'une maison en Île-de-France</vt:lpstr>
      <vt:lpstr> R6- Liste des 10 appartements les plus chers avec la région et le nombre de mètres carrés. </vt:lpstr>
      <vt:lpstr>R6- Liste des 10 appartements les plus chers (Script ajusté)</vt:lpstr>
      <vt:lpstr>R7- Taux d'évolution du nombre de ventes entre le premier et le second trimestre de 2020</vt:lpstr>
      <vt:lpstr>R8- Le classement des régions par rapport au prix au mètre carré des appartements de plus de 4 pièces</vt:lpstr>
      <vt:lpstr>R9- Liste des communes ayant eu au moins 50 ventes au 1er trimestre</vt:lpstr>
      <vt:lpstr>R10- Différence en pourcentage du prix au mètre carré entre un appartement de type F2 et F3</vt:lpstr>
      <vt:lpstr>R11- Les moyennes de valeurs foncières pour le top 3 des communes des départements 6, 13, 33, 59 et 69</vt:lpstr>
      <vt:lpstr>R12-  Les 20 communes avec le plus de transactions pour 1000 habitants pour les communes qui dépassent les 10 000 habitants</vt:lpstr>
      <vt:lpstr>Merci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User</dc:creator>
  <cp:lastModifiedBy>Office User</cp:lastModifiedBy>
  <cp:revision>11</cp:revision>
  <dcterms:created xsi:type="dcterms:W3CDTF">2026-01-26T08:04:44Z</dcterms:created>
  <dcterms:modified xsi:type="dcterms:W3CDTF">2026-02-11T11:49:16Z</dcterms:modified>
</cp:coreProperties>
</file>